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2" y="-13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783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486400" cy="5486400"/>
          </a:xfrm>
          <a:prstGeom prst="ellipse">
            <a:avLst/>
          </a:prstGeom>
          <a:solidFill>
            <a:srgbClr val="F0C04A">
              <a:alpha val="10000"/>
            </a:srgbClr>
          </a:solidFill>
          <a:ln/>
        </p:spPr>
      </p:sp>
      <p:sp>
        <p:nvSpPr>
          <p:cNvPr id="3" name="Shape 1"/>
          <p:cNvSpPr/>
          <p:nvPr/>
        </p:nvSpPr>
        <p:spPr>
          <a:xfrm>
            <a:off x="-1828800" y="4114800"/>
            <a:ext cx="5029200" cy="5029200"/>
          </a:xfrm>
          <a:prstGeom prst="ellipse">
            <a:avLst/>
          </a:prstGeom>
          <a:solidFill>
            <a:srgbClr val="E07B4A">
              <a:alpha val="8000"/>
            </a:srgbClr>
          </a:solidFill>
          <a:ln/>
        </p:spPr>
      </p:sp>
      <p:sp>
        <p:nvSpPr>
          <p:cNvPr id="4" name="Text 2"/>
          <p:cNvSpPr/>
          <p:nvPr/>
        </p:nvSpPr>
        <p:spPr>
          <a:xfrm>
            <a:off x="822960" y="2148840"/>
            <a:ext cx="7315200" cy="1005840"/>
          </a:xfrm>
          <a:prstGeom prst="rect">
            <a:avLst/>
          </a:prstGeom>
          <a:noFill/>
          <a:ln/>
        </p:spPr>
        <p:txBody>
          <a:bodyPr wrap="square" rtlCol="0" anchor="ctr"/>
          <a:lstStyle/>
          <a:p>
            <a:pPr marL="0" indent="0" algn="l">
              <a:buNone/>
            </a:pPr>
            <a:r>
              <a:rPr lang="en-US" sz="6000" b="1" dirty="0">
                <a:solidFill>
                  <a:srgbClr val="F0C04A"/>
                </a:solidFill>
                <a:latin typeface="Century Schoolbook" pitchFamily="34" charset="0"/>
                <a:ea typeface="Century Schoolbook" pitchFamily="34" charset="-122"/>
                <a:cs typeface="Century Schoolbook" pitchFamily="34" charset="-120"/>
              </a:rPr>
              <a:t>Find</a:t>
            </a:r>
            <a:r>
              <a:rPr lang="en-US" sz="6000" b="1" dirty="0">
                <a:solidFill>
                  <a:srgbClr val="F0EFF5"/>
                </a:solidFill>
                <a:latin typeface="Century Schoolbook" pitchFamily="34" charset="0"/>
                <a:ea typeface="Century Schoolbook" pitchFamily="34" charset="-122"/>
                <a:cs typeface="Century Schoolbook" pitchFamily="34" charset="-120"/>
              </a:rPr>
              <a:t>It</a:t>
            </a:r>
            <a:endParaRPr lang="en-US" sz="6000" dirty="0"/>
          </a:p>
        </p:txBody>
      </p:sp>
      <p:sp>
        <p:nvSpPr>
          <p:cNvPr id="5" name="Text 3"/>
          <p:cNvSpPr/>
          <p:nvPr/>
        </p:nvSpPr>
        <p:spPr>
          <a:xfrm>
            <a:off x="868680" y="3063240"/>
            <a:ext cx="8686800" cy="548640"/>
          </a:xfrm>
          <a:prstGeom prst="rect">
            <a:avLst/>
          </a:prstGeom>
          <a:noFill/>
          <a:ln/>
        </p:spPr>
        <p:txBody>
          <a:bodyPr wrap="square" rtlCol="0" anchor="ctr"/>
          <a:lstStyle/>
          <a:p>
            <a:pPr marL="0" indent="0">
              <a:buNone/>
            </a:pPr>
            <a:r>
              <a:rPr lang="en-US" sz="2400" dirty="0">
                <a:solidFill>
                  <a:srgbClr val="F0EFF5"/>
                </a:solidFill>
                <a:latin typeface="Calibri" pitchFamily="34" charset="0"/>
                <a:ea typeface="Calibri" pitchFamily="34" charset="-122"/>
                <a:cs typeface="Calibri" pitchFamily="34" charset="-120"/>
              </a:rPr>
              <a:t>Lost &amp; Found Management System</a:t>
            </a:r>
            <a:endParaRPr lang="en-US" sz="2400" dirty="0"/>
          </a:p>
        </p:txBody>
      </p:sp>
      <p:sp>
        <p:nvSpPr>
          <p:cNvPr id="6" name="Text 4"/>
          <p:cNvSpPr/>
          <p:nvPr/>
        </p:nvSpPr>
        <p:spPr>
          <a:xfrm>
            <a:off x="868680" y="3611880"/>
            <a:ext cx="8229600" cy="731520"/>
          </a:xfrm>
          <a:prstGeom prst="rect">
            <a:avLst/>
          </a:prstGeom>
          <a:noFill/>
          <a:ln/>
        </p:spPr>
        <p:txBody>
          <a:bodyPr wrap="square" rtlCol="0" anchor="ctr"/>
          <a:lstStyle/>
          <a:p>
            <a:pPr marL="0" indent="0">
              <a:lnSpc>
                <a:spcPct val="125000"/>
              </a:lnSpc>
              <a:buNone/>
            </a:pPr>
            <a:r>
              <a:rPr lang="en-US" sz="1350" dirty="0">
                <a:solidFill>
                  <a:srgbClr val="9A9AB5"/>
                </a:solidFill>
                <a:latin typeface="Calibri" pitchFamily="34" charset="0"/>
                <a:ea typeface="Calibri" pitchFamily="34" charset="-122"/>
                <a:cs typeface="Calibri" pitchFamily="34" charset="-120"/>
              </a:rPr>
              <a:t>A community-powered platform for university campuses to report, search, and</a:t>
            </a:r>
            <a:endParaRPr lang="en-US" sz="1350" dirty="0"/>
          </a:p>
          <a:p>
            <a:pPr marL="0" indent="0">
              <a:lnSpc>
                <a:spcPct val="125000"/>
              </a:lnSpc>
              <a:buNone/>
            </a:pPr>
            <a:r>
              <a:rPr lang="en-US" sz="1350" dirty="0">
                <a:solidFill>
                  <a:srgbClr val="9A9AB5"/>
                </a:solidFill>
                <a:latin typeface="Calibri" pitchFamily="34" charset="0"/>
                <a:ea typeface="Calibri" pitchFamily="34" charset="-122"/>
                <a:cs typeface="Calibri" pitchFamily="34" charset="-120"/>
              </a:rPr>
              <a:t>reconnect lost belongings with their owners.</a:t>
            </a:r>
            <a:endParaRPr lang="en-US" sz="1350" dirty="0"/>
          </a:p>
        </p:txBody>
      </p:sp>
      <p:sp>
        <p:nvSpPr>
          <p:cNvPr id="7" name="Shape 5"/>
          <p:cNvSpPr/>
          <p:nvPr/>
        </p:nvSpPr>
        <p:spPr>
          <a:xfrm>
            <a:off x="868680" y="4572000"/>
            <a:ext cx="571500" cy="384048"/>
          </a:xfrm>
          <a:prstGeom prst="roundRect">
            <a:avLst>
              <a:gd name="adj" fmla="val 50000"/>
            </a:avLst>
          </a:prstGeom>
          <a:solidFill>
            <a:srgbClr val="1C1C28"/>
          </a:solidFill>
          <a:ln w="12700">
            <a:solidFill>
              <a:srgbClr val="2A2A38"/>
            </a:solidFill>
            <a:prstDash val="solid"/>
          </a:ln>
        </p:spPr>
      </p:sp>
      <p:sp>
        <p:nvSpPr>
          <p:cNvPr id="8" name="Text 6"/>
          <p:cNvSpPr/>
          <p:nvPr/>
        </p:nvSpPr>
        <p:spPr>
          <a:xfrm>
            <a:off x="868680" y="4572000"/>
            <a:ext cx="571500" cy="384048"/>
          </a:xfrm>
          <a:prstGeom prst="rect">
            <a:avLst/>
          </a:prstGeom>
          <a:noFill/>
          <a:ln/>
        </p:spPr>
        <p:txBody>
          <a:bodyPr wrap="square" rtlCol="0" anchor="ctr"/>
          <a:lstStyle/>
          <a:p>
            <a:pPr marL="0" indent="0" algn="ctr">
              <a:buNone/>
            </a:pPr>
            <a:r>
              <a:rPr lang="en-US" sz="1150" b="1" dirty="0">
                <a:solidFill>
                  <a:srgbClr val="F0C04A"/>
                </a:solidFill>
                <a:latin typeface="Calibri" pitchFamily="34" charset="0"/>
                <a:ea typeface="Calibri" pitchFamily="34" charset="-122"/>
                <a:cs typeface="Calibri" pitchFamily="34" charset="-120"/>
              </a:rPr>
              <a:t>PHP</a:t>
            </a:r>
            <a:endParaRPr lang="en-US" sz="1150" dirty="0"/>
          </a:p>
        </p:txBody>
      </p:sp>
      <p:sp>
        <p:nvSpPr>
          <p:cNvPr id="9" name="Shape 7"/>
          <p:cNvSpPr/>
          <p:nvPr/>
        </p:nvSpPr>
        <p:spPr>
          <a:xfrm>
            <a:off x="1604772" y="4572000"/>
            <a:ext cx="781812" cy="384048"/>
          </a:xfrm>
          <a:prstGeom prst="roundRect">
            <a:avLst>
              <a:gd name="adj" fmla="val 50000"/>
            </a:avLst>
          </a:prstGeom>
          <a:solidFill>
            <a:srgbClr val="1C1C28"/>
          </a:solidFill>
          <a:ln w="12700">
            <a:solidFill>
              <a:srgbClr val="2A2A38"/>
            </a:solidFill>
            <a:prstDash val="solid"/>
          </a:ln>
        </p:spPr>
      </p:sp>
      <p:sp>
        <p:nvSpPr>
          <p:cNvPr id="10" name="Text 8"/>
          <p:cNvSpPr/>
          <p:nvPr/>
        </p:nvSpPr>
        <p:spPr>
          <a:xfrm>
            <a:off x="1604772" y="4572000"/>
            <a:ext cx="781812" cy="384048"/>
          </a:xfrm>
          <a:prstGeom prst="rect">
            <a:avLst/>
          </a:prstGeom>
          <a:noFill/>
          <a:ln/>
        </p:spPr>
        <p:txBody>
          <a:bodyPr wrap="square" rtlCol="0" anchor="ctr"/>
          <a:lstStyle/>
          <a:p>
            <a:pPr marL="0" indent="0" algn="ctr">
              <a:buNone/>
            </a:pPr>
            <a:r>
              <a:rPr lang="en-US" sz="1150" b="1" dirty="0">
                <a:solidFill>
                  <a:srgbClr val="F0C04A"/>
                </a:solidFill>
                <a:latin typeface="Calibri" pitchFamily="34" charset="0"/>
                <a:ea typeface="Calibri" pitchFamily="34" charset="-122"/>
                <a:cs typeface="Calibri" pitchFamily="34" charset="-120"/>
              </a:rPr>
              <a:t>MySQL</a:t>
            </a:r>
            <a:endParaRPr lang="en-US" sz="1150" dirty="0"/>
          </a:p>
        </p:txBody>
      </p:sp>
      <p:sp>
        <p:nvSpPr>
          <p:cNvPr id="11" name="Shape 9"/>
          <p:cNvSpPr/>
          <p:nvPr/>
        </p:nvSpPr>
        <p:spPr>
          <a:xfrm>
            <a:off x="2551176" y="4572000"/>
            <a:ext cx="1412748" cy="384048"/>
          </a:xfrm>
          <a:prstGeom prst="roundRect">
            <a:avLst>
              <a:gd name="adj" fmla="val 50000"/>
            </a:avLst>
          </a:prstGeom>
          <a:solidFill>
            <a:srgbClr val="1C1C28"/>
          </a:solidFill>
          <a:ln w="12700">
            <a:solidFill>
              <a:srgbClr val="2A2A38"/>
            </a:solidFill>
            <a:prstDash val="solid"/>
          </a:ln>
        </p:spPr>
      </p:sp>
      <p:sp>
        <p:nvSpPr>
          <p:cNvPr id="12" name="Text 10"/>
          <p:cNvSpPr/>
          <p:nvPr/>
        </p:nvSpPr>
        <p:spPr>
          <a:xfrm>
            <a:off x="2551176" y="4572000"/>
            <a:ext cx="1412748" cy="384048"/>
          </a:xfrm>
          <a:prstGeom prst="rect">
            <a:avLst/>
          </a:prstGeom>
          <a:noFill/>
          <a:ln/>
        </p:spPr>
        <p:txBody>
          <a:bodyPr wrap="square" rtlCol="0" anchor="ctr"/>
          <a:lstStyle/>
          <a:p>
            <a:pPr marL="0" indent="0" algn="ctr">
              <a:buNone/>
            </a:pPr>
            <a:r>
              <a:rPr lang="en-US" sz="1150" b="1" dirty="0">
                <a:solidFill>
                  <a:srgbClr val="F0C04A"/>
                </a:solidFill>
                <a:latin typeface="Calibri" pitchFamily="34" charset="0"/>
                <a:ea typeface="Calibri" pitchFamily="34" charset="-122"/>
                <a:cs typeface="Calibri" pitchFamily="34" charset="-120"/>
              </a:rPr>
              <a:t>Bootstrap 5</a:t>
            </a:r>
            <a:endParaRPr lang="en-US" sz="1150" dirty="0"/>
          </a:p>
        </p:txBody>
      </p:sp>
      <p:sp>
        <p:nvSpPr>
          <p:cNvPr id="13" name="Shape 11"/>
          <p:cNvSpPr/>
          <p:nvPr/>
        </p:nvSpPr>
        <p:spPr>
          <a:xfrm>
            <a:off x="4128516" y="4572000"/>
            <a:ext cx="676656" cy="384048"/>
          </a:xfrm>
          <a:prstGeom prst="roundRect">
            <a:avLst>
              <a:gd name="adj" fmla="val 50000"/>
            </a:avLst>
          </a:prstGeom>
          <a:solidFill>
            <a:srgbClr val="1C1C28"/>
          </a:solidFill>
          <a:ln w="12700">
            <a:solidFill>
              <a:srgbClr val="2A2A38"/>
            </a:solidFill>
            <a:prstDash val="solid"/>
          </a:ln>
        </p:spPr>
      </p:sp>
      <p:sp>
        <p:nvSpPr>
          <p:cNvPr id="14" name="Text 12"/>
          <p:cNvSpPr/>
          <p:nvPr/>
        </p:nvSpPr>
        <p:spPr>
          <a:xfrm>
            <a:off x="4128516" y="4572000"/>
            <a:ext cx="676656" cy="384048"/>
          </a:xfrm>
          <a:prstGeom prst="rect">
            <a:avLst/>
          </a:prstGeom>
          <a:noFill/>
          <a:ln/>
        </p:spPr>
        <p:txBody>
          <a:bodyPr wrap="square" rtlCol="0" anchor="ctr"/>
          <a:lstStyle/>
          <a:p>
            <a:pPr marL="0" indent="0" algn="ctr">
              <a:buNone/>
            </a:pPr>
            <a:r>
              <a:rPr lang="en-US" sz="1150" b="1" dirty="0">
                <a:solidFill>
                  <a:srgbClr val="F0C04A"/>
                </a:solidFill>
                <a:latin typeface="Calibri" pitchFamily="34" charset="0"/>
                <a:ea typeface="Calibri" pitchFamily="34" charset="-122"/>
                <a:cs typeface="Calibri" pitchFamily="34" charset="-120"/>
              </a:rPr>
              <a:t>AJAX</a:t>
            </a:r>
            <a:endParaRPr lang="en-US" sz="1150" dirty="0"/>
          </a:p>
        </p:txBody>
      </p:sp>
      <p:sp>
        <p:nvSpPr>
          <p:cNvPr id="15" name="Text 13"/>
          <p:cNvSpPr/>
          <p:nvPr/>
        </p:nvSpPr>
        <p:spPr>
          <a:xfrm>
            <a:off x="868680" y="5989320"/>
            <a:ext cx="7315200" cy="320040"/>
          </a:xfrm>
          <a:prstGeom prst="rect">
            <a:avLst/>
          </a:prstGeom>
          <a:noFill/>
          <a:ln/>
        </p:spPr>
        <p:txBody>
          <a:bodyPr wrap="square" rtlCol="0" anchor="ctr"/>
          <a:lstStyle/>
          <a:p>
            <a:r>
              <a:rPr lang="en-US" sz="1300" b="1" dirty="0">
                <a:solidFill>
                  <a:srgbClr val="F0EFF5"/>
                </a:solidFill>
                <a:latin typeface="Calibri" pitchFamily="34" charset="0"/>
                <a:ea typeface="Calibri" pitchFamily="34" charset="-122"/>
                <a:cs typeface="Calibri" pitchFamily="34" charset="-120"/>
              </a:rPr>
              <a:t>Najia Batool  (BCB-25F-033)</a:t>
            </a:r>
            <a:endParaRPr lang="en-US" sz="1300" dirty="0"/>
          </a:p>
        </p:txBody>
      </p:sp>
      <p:sp>
        <p:nvSpPr>
          <p:cNvPr id="16" name="Text 14"/>
          <p:cNvSpPr/>
          <p:nvPr/>
        </p:nvSpPr>
        <p:spPr>
          <a:xfrm>
            <a:off x="868680" y="6281928"/>
            <a:ext cx="8229600" cy="320040"/>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Sindh Madressatul Islam University (SMIU)  · BS Cyber Security   ·  2nd Semester</a:t>
            </a:r>
            <a:endParaRPr lang="en-US" sz="1150" dirty="0"/>
          </a:p>
        </p:txBody>
      </p:sp>
      <p:sp>
        <p:nvSpPr>
          <p:cNvPr id="18" name="TextBox 17">
            <a:extLst>
              <a:ext uri="{FF2B5EF4-FFF2-40B4-BE49-F238E27FC236}">
                <a16:creationId xmlns:a16="http://schemas.microsoft.com/office/drawing/2014/main" id="{C14858A2-AE5E-E4B4-0095-482835CF88F0}"/>
              </a:ext>
            </a:extLst>
          </p:cNvPr>
          <p:cNvSpPr txBox="1"/>
          <p:nvPr/>
        </p:nvSpPr>
        <p:spPr>
          <a:xfrm>
            <a:off x="868680" y="5139928"/>
            <a:ext cx="7315200" cy="369332"/>
          </a:xfrm>
          <a:prstGeom prst="rect">
            <a:avLst/>
          </a:prstGeom>
          <a:noFill/>
        </p:spPr>
        <p:txBody>
          <a:bodyPr wrap="square">
            <a:spAutoFit/>
          </a:bodyPr>
          <a:lstStyle/>
          <a:p>
            <a:r>
              <a:rPr lang="en-US" b="1">
                <a:solidFill>
                  <a:srgbClr val="F0EFF5"/>
                </a:solidFill>
                <a:latin typeface="Calibri" pitchFamily="34" charset="0"/>
                <a:ea typeface="Calibri" pitchFamily="34" charset="-122"/>
                <a:cs typeface="Calibri" pitchFamily="34" charset="-120"/>
              </a:rPr>
              <a:t>Syed Muhammad Yousuf Ali Zaidi  (BCB-25F-043)</a:t>
            </a:r>
            <a:endParaRPr lang="en-US" dirty="0"/>
          </a:p>
        </p:txBody>
      </p:sp>
      <p:sp>
        <p:nvSpPr>
          <p:cNvPr id="20" name="TextBox 19">
            <a:extLst>
              <a:ext uri="{FF2B5EF4-FFF2-40B4-BE49-F238E27FC236}">
                <a16:creationId xmlns:a16="http://schemas.microsoft.com/office/drawing/2014/main" id="{3235BE35-3050-81FA-FB66-7C2BFC2F6D89}"/>
              </a:ext>
            </a:extLst>
          </p:cNvPr>
          <p:cNvSpPr txBox="1"/>
          <p:nvPr/>
        </p:nvSpPr>
        <p:spPr>
          <a:xfrm>
            <a:off x="868680" y="5603537"/>
            <a:ext cx="5799539" cy="369332"/>
          </a:xfrm>
          <a:prstGeom prst="rect">
            <a:avLst/>
          </a:prstGeom>
          <a:noFill/>
        </p:spPr>
        <p:txBody>
          <a:bodyPr wrap="square">
            <a:spAutoFit/>
          </a:bodyPr>
          <a:lstStyle/>
          <a:p>
            <a:pPr marL="0" indent="0">
              <a:buNone/>
            </a:pPr>
            <a:r>
              <a:rPr lang="en-US" sz="1800" b="1" dirty="0">
                <a:solidFill>
                  <a:srgbClr val="F0EFF5"/>
                </a:solidFill>
                <a:latin typeface="Calibri" pitchFamily="34" charset="0"/>
                <a:ea typeface="Calibri" pitchFamily="34" charset="-122"/>
                <a:cs typeface="Calibri" pitchFamily="34" charset="-120"/>
              </a:rPr>
              <a:t>A</a:t>
            </a:r>
            <a:r>
              <a:rPr lang="en-US" b="1" dirty="0">
                <a:solidFill>
                  <a:srgbClr val="F0EFF5"/>
                </a:solidFill>
                <a:latin typeface="Calibri" pitchFamily="34" charset="0"/>
                <a:ea typeface="Calibri" pitchFamily="34" charset="-122"/>
                <a:cs typeface="Calibri" pitchFamily="34" charset="-120"/>
              </a:rPr>
              <a:t>iman Imam</a:t>
            </a:r>
            <a:r>
              <a:rPr lang="en-US" sz="1800" b="1" dirty="0">
                <a:solidFill>
                  <a:srgbClr val="F0EFF5"/>
                </a:solidFill>
                <a:latin typeface="Calibri" pitchFamily="34" charset="0"/>
                <a:ea typeface="Calibri" pitchFamily="34" charset="-122"/>
                <a:cs typeface="Calibri" pitchFamily="34" charset="-120"/>
              </a:rPr>
              <a:t>  (BCB-25F-00</a:t>
            </a:r>
            <a:r>
              <a:rPr lang="en-US" b="1" dirty="0">
                <a:solidFill>
                  <a:srgbClr val="F0EFF5"/>
                </a:solidFill>
                <a:latin typeface="Calibri" pitchFamily="34" charset="0"/>
                <a:ea typeface="Calibri" pitchFamily="34" charset="-122"/>
                <a:cs typeface="Calibri" pitchFamily="34" charset="-120"/>
              </a:rPr>
              <a:t>6</a:t>
            </a:r>
            <a:r>
              <a:rPr lang="en-US" sz="1800" b="1" dirty="0">
                <a:solidFill>
                  <a:srgbClr val="F0EFF5"/>
                </a:solidFill>
                <a:latin typeface="Calibri" pitchFamily="34" charset="0"/>
                <a:ea typeface="Calibri" pitchFamily="34" charset="-122"/>
                <a:cs typeface="Calibri" pitchFamily="34" charset="-120"/>
              </a:rPr>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Project Objective</a:t>
            </a:r>
            <a:endParaRPr lang="en-US" sz="3200" dirty="0"/>
          </a:p>
        </p:txBody>
      </p:sp>
      <p:sp>
        <p:nvSpPr>
          <p:cNvPr id="3" name="Text 1"/>
          <p:cNvSpPr/>
          <p:nvPr/>
        </p:nvSpPr>
        <p:spPr>
          <a:xfrm>
            <a:off x="548640" y="1600200"/>
            <a:ext cx="5669280" cy="2926080"/>
          </a:xfrm>
          <a:prstGeom prst="rect">
            <a:avLst/>
          </a:prstGeom>
          <a:noFill/>
          <a:ln/>
        </p:spPr>
        <p:txBody>
          <a:bodyPr wrap="square" rtlCol="0" anchor="ctr"/>
          <a:lstStyle/>
          <a:p>
            <a:pPr marL="0" indent="0">
              <a:lnSpc>
                <a:spcPct val="135000"/>
              </a:lnSpc>
              <a:buNone/>
            </a:pPr>
            <a:r>
              <a:rPr lang="en-US" sz="1500" dirty="0">
                <a:solidFill>
                  <a:srgbClr val="F0EFF5"/>
                </a:solidFill>
                <a:latin typeface="Calibri" pitchFamily="34" charset="0"/>
                <a:ea typeface="Calibri" pitchFamily="34" charset="-122"/>
                <a:cs typeface="Calibri" pitchFamily="34" charset="-120"/>
              </a:rPr>
              <a:t>Every semester, students lose phones, wallets, ID cards, and bags across campus with no central, reliable way to report or recover them. FindIt solves this by giving the whole campus community one place to report lost items, post found items, search and filter listings, and connect directly with the other party to arrange a return under the admin supervision.</a:t>
            </a:r>
            <a:endParaRPr lang="en-US" sz="1500" dirty="0"/>
          </a:p>
        </p:txBody>
      </p:sp>
      <p:sp>
        <p:nvSpPr>
          <p:cNvPr id="4" name="Text 2"/>
          <p:cNvSpPr/>
          <p:nvPr/>
        </p:nvSpPr>
        <p:spPr>
          <a:xfrm>
            <a:off x="548640" y="4709160"/>
            <a:ext cx="1828800" cy="640080"/>
          </a:xfrm>
          <a:prstGeom prst="rect">
            <a:avLst/>
          </a:prstGeom>
          <a:noFill/>
          <a:ln/>
        </p:spPr>
        <p:txBody>
          <a:bodyPr wrap="square" rtlCol="0" anchor="ctr"/>
          <a:lstStyle/>
          <a:p>
            <a:pPr marL="0" indent="0">
              <a:buNone/>
            </a:pPr>
            <a:r>
              <a:rPr lang="en-US" sz="3400" b="1" dirty="0">
                <a:solidFill>
                  <a:srgbClr val="F0C04A"/>
                </a:solidFill>
                <a:latin typeface="Century Schoolbook" pitchFamily="34" charset="0"/>
                <a:ea typeface="Century Schoolbook" pitchFamily="34" charset="-122"/>
                <a:cs typeface="Century Schoolbook" pitchFamily="34" charset="-120"/>
              </a:rPr>
              <a:t>3</a:t>
            </a:r>
            <a:endParaRPr lang="en-US" sz="3400" dirty="0"/>
          </a:p>
        </p:txBody>
      </p:sp>
      <p:sp>
        <p:nvSpPr>
          <p:cNvPr id="5" name="Text 3"/>
          <p:cNvSpPr/>
          <p:nvPr/>
        </p:nvSpPr>
        <p:spPr>
          <a:xfrm>
            <a:off x="548640" y="5330952"/>
            <a:ext cx="1828800" cy="365760"/>
          </a:xfrm>
          <a:prstGeom prst="rect">
            <a:avLst/>
          </a:prstGeom>
          <a:noFill/>
          <a:ln/>
        </p:spPr>
        <p:txBody>
          <a:bodyPr wrap="square" rtlCol="0" anchor="ctr"/>
          <a:lstStyle/>
          <a:p>
            <a:pPr marL="0" indent="0">
              <a:buNone/>
            </a:pPr>
            <a:r>
              <a:rPr lang="en-US" sz="1100" dirty="0">
                <a:solidFill>
                  <a:srgbClr val="9A9AB5"/>
                </a:solidFill>
                <a:latin typeface="Calibri" pitchFamily="34" charset="0"/>
                <a:ea typeface="Calibri" pitchFamily="34" charset="-122"/>
                <a:cs typeface="Calibri" pitchFamily="34" charset="-120"/>
              </a:rPr>
              <a:t>User Roles</a:t>
            </a:r>
            <a:endParaRPr lang="en-US" sz="1100" dirty="0"/>
          </a:p>
        </p:txBody>
      </p:sp>
      <p:sp>
        <p:nvSpPr>
          <p:cNvPr id="6" name="Text 4"/>
          <p:cNvSpPr/>
          <p:nvPr/>
        </p:nvSpPr>
        <p:spPr>
          <a:xfrm>
            <a:off x="2514600" y="4709160"/>
            <a:ext cx="1828800" cy="640080"/>
          </a:xfrm>
          <a:prstGeom prst="rect">
            <a:avLst/>
          </a:prstGeom>
          <a:noFill/>
          <a:ln/>
        </p:spPr>
        <p:txBody>
          <a:bodyPr wrap="square" rtlCol="0" anchor="ctr"/>
          <a:lstStyle/>
          <a:p>
            <a:pPr marL="0" indent="0">
              <a:buNone/>
            </a:pPr>
            <a:r>
              <a:rPr lang="en-US" sz="3400" b="1" dirty="0">
                <a:solidFill>
                  <a:srgbClr val="FF6B6B"/>
                </a:solidFill>
                <a:latin typeface="Century Schoolbook" pitchFamily="34" charset="0"/>
                <a:ea typeface="Century Schoolbook" pitchFamily="34" charset="-122"/>
                <a:cs typeface="Century Schoolbook" pitchFamily="34" charset="-120"/>
              </a:rPr>
              <a:t>2</a:t>
            </a:r>
            <a:endParaRPr lang="en-US" sz="3400" dirty="0"/>
          </a:p>
        </p:txBody>
      </p:sp>
      <p:sp>
        <p:nvSpPr>
          <p:cNvPr id="7" name="Text 5"/>
          <p:cNvSpPr/>
          <p:nvPr/>
        </p:nvSpPr>
        <p:spPr>
          <a:xfrm>
            <a:off x="2514600" y="5330952"/>
            <a:ext cx="1828800" cy="365760"/>
          </a:xfrm>
          <a:prstGeom prst="rect">
            <a:avLst/>
          </a:prstGeom>
          <a:noFill/>
          <a:ln/>
        </p:spPr>
        <p:txBody>
          <a:bodyPr wrap="square" rtlCol="0" anchor="ctr"/>
          <a:lstStyle/>
          <a:p>
            <a:pPr marL="0" indent="0">
              <a:buNone/>
            </a:pPr>
            <a:r>
              <a:rPr lang="en-US" sz="1100" dirty="0">
                <a:solidFill>
                  <a:srgbClr val="9A9AB5"/>
                </a:solidFill>
                <a:latin typeface="Calibri" pitchFamily="34" charset="0"/>
                <a:ea typeface="Calibri" pitchFamily="34" charset="-122"/>
                <a:cs typeface="Calibri" pitchFamily="34" charset="-120"/>
              </a:rPr>
              <a:t>Report Types</a:t>
            </a:r>
            <a:endParaRPr lang="en-US" sz="1100" dirty="0"/>
          </a:p>
        </p:txBody>
      </p:sp>
      <p:sp>
        <p:nvSpPr>
          <p:cNvPr id="8" name="Text 6"/>
          <p:cNvSpPr/>
          <p:nvPr/>
        </p:nvSpPr>
        <p:spPr>
          <a:xfrm>
            <a:off x="4480560" y="4709160"/>
            <a:ext cx="1828800" cy="640080"/>
          </a:xfrm>
          <a:prstGeom prst="rect">
            <a:avLst/>
          </a:prstGeom>
          <a:noFill/>
          <a:ln/>
        </p:spPr>
        <p:txBody>
          <a:bodyPr wrap="square" rtlCol="0" anchor="ctr"/>
          <a:lstStyle/>
          <a:p>
            <a:pPr marL="0" indent="0">
              <a:buNone/>
            </a:pPr>
            <a:r>
              <a:rPr lang="en-US" sz="3400" b="1" dirty="0">
                <a:solidFill>
                  <a:srgbClr val="4ADE80"/>
                </a:solidFill>
                <a:latin typeface="Century Schoolbook" pitchFamily="34" charset="0"/>
                <a:ea typeface="Century Schoolbook" pitchFamily="34" charset="-122"/>
                <a:cs typeface="Century Schoolbook" pitchFamily="34" charset="-120"/>
              </a:rPr>
              <a:t>100%</a:t>
            </a:r>
            <a:endParaRPr lang="en-US" sz="3400" dirty="0"/>
          </a:p>
        </p:txBody>
      </p:sp>
      <p:sp>
        <p:nvSpPr>
          <p:cNvPr id="9" name="Text 7"/>
          <p:cNvSpPr/>
          <p:nvPr/>
        </p:nvSpPr>
        <p:spPr>
          <a:xfrm>
            <a:off x="4480560" y="5330952"/>
            <a:ext cx="1828800" cy="365760"/>
          </a:xfrm>
          <a:prstGeom prst="rect">
            <a:avLst/>
          </a:prstGeom>
          <a:noFill/>
          <a:ln/>
        </p:spPr>
        <p:txBody>
          <a:bodyPr wrap="square" rtlCol="0" anchor="ctr"/>
          <a:lstStyle/>
          <a:p>
            <a:pPr marL="0" indent="0">
              <a:buNone/>
            </a:pPr>
            <a:r>
              <a:rPr lang="en-US" sz="1100" dirty="0">
                <a:solidFill>
                  <a:srgbClr val="9A9AB5"/>
                </a:solidFill>
                <a:latin typeface="Calibri" pitchFamily="34" charset="0"/>
                <a:ea typeface="Calibri" pitchFamily="34" charset="-122"/>
                <a:cs typeface="Calibri" pitchFamily="34" charset="-120"/>
              </a:rPr>
              <a:t>AJAX-driven UI</a:t>
            </a:r>
            <a:endParaRPr lang="en-US" sz="1100" dirty="0"/>
          </a:p>
        </p:txBody>
      </p:sp>
      <p:sp>
        <p:nvSpPr>
          <p:cNvPr id="10" name="Shape 8"/>
          <p:cNvSpPr/>
          <p:nvPr/>
        </p:nvSpPr>
        <p:spPr>
          <a:xfrm>
            <a:off x="6720840" y="1600200"/>
            <a:ext cx="4892040" cy="4434840"/>
          </a:xfrm>
          <a:prstGeom prst="roundRect">
            <a:avLst>
              <a:gd name="adj" fmla="val 2062"/>
            </a:avLst>
          </a:prstGeom>
          <a:solidFill>
            <a:srgbClr val="13131A"/>
          </a:solidFill>
          <a:ln w="12700">
            <a:solidFill>
              <a:srgbClr val="2A2A38"/>
            </a:solidFill>
            <a:prstDash val="solid"/>
          </a:ln>
        </p:spPr>
      </p:sp>
      <p:pic>
        <p:nvPicPr>
          <p:cNvPr id="11" name="Image 0" descr="/home/claude/pptx/icons/target.png"/>
          <p:cNvPicPr>
            <a:picLocks noChangeAspect="1"/>
          </p:cNvPicPr>
          <p:nvPr/>
        </p:nvPicPr>
        <p:blipFill>
          <a:blip r:embed="rId3"/>
          <a:stretch>
            <a:fillRect/>
          </a:stretch>
        </p:blipFill>
        <p:spPr>
          <a:xfrm>
            <a:off x="7086600" y="1920240"/>
            <a:ext cx="502920" cy="502920"/>
          </a:xfrm>
          <a:prstGeom prst="rect">
            <a:avLst/>
          </a:prstGeom>
        </p:spPr>
      </p:pic>
      <p:sp>
        <p:nvSpPr>
          <p:cNvPr id="12" name="Shape 9"/>
          <p:cNvSpPr/>
          <p:nvPr/>
        </p:nvSpPr>
        <p:spPr>
          <a:xfrm>
            <a:off x="7022592" y="1856232"/>
            <a:ext cx="640080" cy="640080"/>
          </a:xfrm>
          <a:prstGeom prst="ellipse">
            <a:avLst/>
          </a:prstGeom>
          <a:solidFill>
            <a:srgbClr val="F0C04A"/>
          </a:solidFill>
          <a:ln/>
        </p:spPr>
      </p:sp>
      <p:pic>
        <p:nvPicPr>
          <p:cNvPr id="13" name="Image 1" descr="/home/claude/pptx/icons/search.png"/>
          <p:cNvPicPr>
            <a:picLocks noChangeAspect="1"/>
          </p:cNvPicPr>
          <p:nvPr/>
        </p:nvPicPr>
        <p:blipFill>
          <a:blip r:embed="rId4"/>
          <a:stretch>
            <a:fillRect/>
          </a:stretch>
        </p:blipFill>
        <p:spPr>
          <a:xfrm>
            <a:off x="7159752" y="1993392"/>
            <a:ext cx="365760" cy="365760"/>
          </a:xfrm>
          <a:prstGeom prst="rect">
            <a:avLst/>
          </a:prstGeom>
        </p:spPr>
      </p:pic>
      <p:sp>
        <p:nvSpPr>
          <p:cNvPr id="14" name="Text 10"/>
          <p:cNvSpPr/>
          <p:nvPr/>
        </p:nvSpPr>
        <p:spPr>
          <a:xfrm>
            <a:off x="7818120" y="1901952"/>
            <a:ext cx="3657600" cy="457200"/>
          </a:xfrm>
          <a:prstGeom prst="rect">
            <a:avLst/>
          </a:prstGeom>
          <a:noFill/>
          <a:ln/>
        </p:spPr>
        <p:txBody>
          <a:bodyPr wrap="square" rtlCol="0" anchor="ctr"/>
          <a:lstStyle/>
          <a:p>
            <a:pPr marL="0" indent="0">
              <a:buNone/>
            </a:pPr>
            <a:r>
              <a:rPr lang="en-US" sz="1600" b="1" dirty="0">
                <a:solidFill>
                  <a:srgbClr val="F0EFF5"/>
                </a:solidFill>
                <a:latin typeface="Calibri" pitchFamily="34" charset="0"/>
                <a:ea typeface="Calibri" pitchFamily="34" charset="-122"/>
                <a:cs typeface="Calibri" pitchFamily="34" charset="-120"/>
              </a:rPr>
              <a:t>Core Goal</a:t>
            </a:r>
            <a:endParaRPr lang="en-US" sz="1600" dirty="0"/>
          </a:p>
        </p:txBody>
      </p:sp>
      <p:sp>
        <p:nvSpPr>
          <p:cNvPr id="15" name="Shape 11"/>
          <p:cNvSpPr/>
          <p:nvPr/>
        </p:nvSpPr>
        <p:spPr>
          <a:xfrm>
            <a:off x="7086600" y="2743200"/>
            <a:ext cx="109728" cy="109728"/>
          </a:xfrm>
          <a:prstGeom prst="ellipse">
            <a:avLst/>
          </a:prstGeom>
          <a:solidFill>
            <a:srgbClr val="F0C04A"/>
          </a:solidFill>
          <a:ln/>
        </p:spPr>
      </p:sp>
      <p:sp>
        <p:nvSpPr>
          <p:cNvPr id="16" name="Text 12"/>
          <p:cNvSpPr/>
          <p:nvPr/>
        </p:nvSpPr>
        <p:spPr>
          <a:xfrm>
            <a:off x="7360920" y="2587752"/>
            <a:ext cx="4114800" cy="457200"/>
          </a:xfrm>
          <a:prstGeom prst="rect">
            <a:avLst/>
          </a:prstGeom>
          <a:noFill/>
          <a:ln/>
        </p:spPr>
        <p:txBody>
          <a:bodyPr wrap="square" rtlCol="0" anchor="ctr"/>
          <a:lstStyle/>
          <a:p>
            <a:pPr marL="0" indent="0">
              <a:buNone/>
            </a:pPr>
            <a:r>
              <a:rPr lang="en-US" sz="1300" dirty="0">
                <a:solidFill>
                  <a:srgbClr val="F0EFF5"/>
                </a:solidFill>
                <a:latin typeface="Calibri" pitchFamily="34" charset="0"/>
                <a:ea typeface="Calibri" pitchFamily="34" charset="-122"/>
                <a:cs typeface="Calibri" pitchFamily="34" charset="-120"/>
              </a:rPr>
              <a:t>Reduce time-to-recovery for lost items</a:t>
            </a:r>
            <a:endParaRPr lang="en-US" sz="1300" dirty="0"/>
          </a:p>
        </p:txBody>
      </p:sp>
      <p:sp>
        <p:nvSpPr>
          <p:cNvPr id="17" name="Shape 13"/>
          <p:cNvSpPr/>
          <p:nvPr/>
        </p:nvSpPr>
        <p:spPr>
          <a:xfrm>
            <a:off x="7086600" y="3401568"/>
            <a:ext cx="109728" cy="109728"/>
          </a:xfrm>
          <a:prstGeom prst="ellipse">
            <a:avLst/>
          </a:prstGeom>
          <a:solidFill>
            <a:srgbClr val="F0C04A"/>
          </a:solidFill>
          <a:ln/>
        </p:spPr>
      </p:sp>
      <p:sp>
        <p:nvSpPr>
          <p:cNvPr id="18" name="Text 14"/>
          <p:cNvSpPr/>
          <p:nvPr/>
        </p:nvSpPr>
        <p:spPr>
          <a:xfrm>
            <a:off x="7360920" y="3246120"/>
            <a:ext cx="4114800" cy="457200"/>
          </a:xfrm>
          <a:prstGeom prst="rect">
            <a:avLst/>
          </a:prstGeom>
          <a:noFill/>
          <a:ln/>
        </p:spPr>
        <p:txBody>
          <a:bodyPr wrap="square" rtlCol="0" anchor="ctr"/>
          <a:lstStyle/>
          <a:p>
            <a:pPr marL="0" indent="0">
              <a:buNone/>
            </a:pPr>
            <a:r>
              <a:rPr lang="en-US" sz="1300" dirty="0">
                <a:solidFill>
                  <a:srgbClr val="F0EFF5"/>
                </a:solidFill>
                <a:latin typeface="Calibri" pitchFamily="34" charset="0"/>
                <a:ea typeface="Calibri" pitchFamily="34" charset="-122"/>
                <a:cs typeface="Calibri" pitchFamily="34" charset="-120"/>
              </a:rPr>
              <a:t>Give security staff a moderation workflow</a:t>
            </a:r>
            <a:endParaRPr lang="en-US" sz="1300" dirty="0"/>
          </a:p>
        </p:txBody>
      </p:sp>
      <p:sp>
        <p:nvSpPr>
          <p:cNvPr id="19" name="Shape 15"/>
          <p:cNvSpPr/>
          <p:nvPr/>
        </p:nvSpPr>
        <p:spPr>
          <a:xfrm>
            <a:off x="7086600" y="4059936"/>
            <a:ext cx="109728" cy="109728"/>
          </a:xfrm>
          <a:prstGeom prst="ellipse">
            <a:avLst/>
          </a:prstGeom>
          <a:solidFill>
            <a:srgbClr val="F0C04A"/>
          </a:solidFill>
          <a:ln/>
        </p:spPr>
      </p:sp>
      <p:sp>
        <p:nvSpPr>
          <p:cNvPr id="20" name="Text 16"/>
          <p:cNvSpPr/>
          <p:nvPr/>
        </p:nvSpPr>
        <p:spPr>
          <a:xfrm>
            <a:off x="7360920" y="3904488"/>
            <a:ext cx="4114800" cy="457200"/>
          </a:xfrm>
          <a:prstGeom prst="rect">
            <a:avLst/>
          </a:prstGeom>
          <a:noFill/>
          <a:ln/>
        </p:spPr>
        <p:txBody>
          <a:bodyPr wrap="square" rtlCol="0" anchor="ctr"/>
          <a:lstStyle/>
          <a:p>
            <a:pPr marL="0" indent="0">
              <a:buNone/>
            </a:pPr>
            <a:r>
              <a:rPr lang="en-US" sz="1300" dirty="0">
                <a:solidFill>
                  <a:srgbClr val="F0EFF5"/>
                </a:solidFill>
                <a:latin typeface="Calibri" pitchFamily="34" charset="0"/>
                <a:ea typeface="Calibri" pitchFamily="34" charset="-122"/>
                <a:cs typeface="Calibri" pitchFamily="34" charset="-120"/>
              </a:rPr>
              <a:t>Keep every report searchable &amp; filterable</a:t>
            </a:r>
            <a:endParaRPr lang="en-US" sz="1300" dirty="0"/>
          </a:p>
        </p:txBody>
      </p:sp>
      <p:sp>
        <p:nvSpPr>
          <p:cNvPr id="21" name="Shape 17"/>
          <p:cNvSpPr/>
          <p:nvPr/>
        </p:nvSpPr>
        <p:spPr>
          <a:xfrm>
            <a:off x="7086600" y="4718304"/>
            <a:ext cx="109728" cy="109728"/>
          </a:xfrm>
          <a:prstGeom prst="ellipse">
            <a:avLst/>
          </a:prstGeom>
          <a:solidFill>
            <a:srgbClr val="F0C04A"/>
          </a:solidFill>
          <a:ln/>
        </p:spPr>
      </p:sp>
      <p:sp>
        <p:nvSpPr>
          <p:cNvPr id="22" name="Text 18"/>
          <p:cNvSpPr/>
          <p:nvPr/>
        </p:nvSpPr>
        <p:spPr>
          <a:xfrm>
            <a:off x="7360920" y="4562856"/>
            <a:ext cx="4114800" cy="457200"/>
          </a:xfrm>
          <a:prstGeom prst="rect">
            <a:avLst/>
          </a:prstGeom>
          <a:noFill/>
          <a:ln/>
        </p:spPr>
        <p:txBody>
          <a:bodyPr wrap="square" rtlCol="0" anchor="ctr"/>
          <a:lstStyle/>
          <a:p>
            <a:pPr marL="0" indent="0">
              <a:buNone/>
            </a:pPr>
            <a:r>
              <a:rPr lang="en-US" sz="1300" dirty="0">
                <a:solidFill>
                  <a:srgbClr val="F0EFF5"/>
                </a:solidFill>
                <a:latin typeface="Calibri" pitchFamily="34" charset="0"/>
                <a:ea typeface="Calibri" pitchFamily="34" charset="-122"/>
                <a:cs typeface="Calibri" pitchFamily="34" charset="-120"/>
              </a:rPr>
              <a:t>Enable safe, direct student-to-student contact</a:t>
            </a:r>
            <a:endParaRPr lang="en-US" sz="1300" dirty="0"/>
          </a:p>
        </p:txBody>
      </p:sp>
      <p:sp>
        <p:nvSpPr>
          <p:cNvPr id="23" name="Text 19"/>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24" name="Text 2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Key Features</a:t>
            </a:r>
            <a:endParaRPr lang="en-US" sz="3200" dirty="0"/>
          </a:p>
        </p:txBody>
      </p:sp>
      <p:sp>
        <p:nvSpPr>
          <p:cNvPr id="3" name="Shape 1"/>
          <p:cNvSpPr/>
          <p:nvPr/>
        </p:nvSpPr>
        <p:spPr>
          <a:xfrm>
            <a:off x="548640" y="1691640"/>
            <a:ext cx="3611880" cy="2148840"/>
          </a:xfrm>
          <a:prstGeom prst="roundRect">
            <a:avLst>
              <a:gd name="adj" fmla="val 3830"/>
            </a:avLst>
          </a:prstGeom>
          <a:solidFill>
            <a:srgbClr val="13131A"/>
          </a:solidFill>
          <a:ln w="12700">
            <a:solidFill>
              <a:srgbClr val="2A2A38"/>
            </a:solidFill>
            <a:prstDash val="solid"/>
          </a:ln>
        </p:spPr>
      </p:sp>
      <p:sp>
        <p:nvSpPr>
          <p:cNvPr id="4" name="Shape 2"/>
          <p:cNvSpPr/>
          <p:nvPr/>
        </p:nvSpPr>
        <p:spPr>
          <a:xfrm>
            <a:off x="804672" y="1947672"/>
            <a:ext cx="566928" cy="566928"/>
          </a:xfrm>
          <a:prstGeom prst="ellipse">
            <a:avLst/>
          </a:prstGeom>
          <a:solidFill>
            <a:srgbClr val="1C1C28"/>
          </a:solidFill>
          <a:ln w="12700">
            <a:solidFill>
              <a:srgbClr val="F0C04A"/>
            </a:solidFill>
            <a:prstDash val="solid"/>
          </a:ln>
        </p:spPr>
      </p:sp>
      <p:pic>
        <p:nvPicPr>
          <p:cNvPr id="5" name="Image 0" descr="/home/claude/pptx/icons/exchange.png"/>
          <p:cNvPicPr>
            <a:picLocks noChangeAspect="1"/>
          </p:cNvPicPr>
          <p:nvPr/>
        </p:nvPicPr>
        <p:blipFill>
          <a:blip r:embed="rId3"/>
          <a:stretch>
            <a:fillRect/>
          </a:stretch>
        </p:blipFill>
        <p:spPr>
          <a:xfrm>
            <a:off x="950976" y="2093976"/>
            <a:ext cx="274320" cy="274320"/>
          </a:xfrm>
          <a:prstGeom prst="rect">
            <a:avLst/>
          </a:prstGeom>
        </p:spPr>
      </p:pic>
      <p:sp>
        <p:nvSpPr>
          <p:cNvPr id="6" name="Text 3"/>
          <p:cNvSpPr/>
          <p:nvPr/>
        </p:nvSpPr>
        <p:spPr>
          <a:xfrm>
            <a:off x="804672" y="2606040"/>
            <a:ext cx="3099816" cy="365760"/>
          </a:xfrm>
          <a:prstGeom prst="rect">
            <a:avLst/>
          </a:prstGeom>
          <a:noFill/>
          <a:ln/>
        </p:spPr>
        <p:txBody>
          <a:bodyPr wrap="square" rtlCol="0" anchor="ctr"/>
          <a:lstStyle/>
          <a:p>
            <a:pPr marL="0" indent="0">
              <a:buNone/>
            </a:pPr>
            <a:r>
              <a:rPr lang="en-US" sz="1450" b="1" dirty="0">
                <a:solidFill>
                  <a:srgbClr val="F0EFF5"/>
                </a:solidFill>
                <a:latin typeface="Calibri" pitchFamily="34" charset="0"/>
                <a:ea typeface="Calibri" pitchFamily="34" charset="-122"/>
                <a:cs typeface="Calibri" pitchFamily="34" charset="-120"/>
              </a:rPr>
              <a:t>Report Lost / Found</a:t>
            </a:r>
            <a:endParaRPr lang="en-US" sz="1450" dirty="0"/>
          </a:p>
        </p:txBody>
      </p:sp>
      <p:sp>
        <p:nvSpPr>
          <p:cNvPr id="7" name="Text 4"/>
          <p:cNvSpPr/>
          <p:nvPr/>
        </p:nvSpPr>
        <p:spPr>
          <a:xfrm>
            <a:off x="804672" y="2990088"/>
            <a:ext cx="3099816" cy="731520"/>
          </a:xfrm>
          <a:prstGeom prst="rect">
            <a:avLst/>
          </a:prstGeom>
          <a:noFill/>
          <a:ln/>
        </p:spPr>
        <p:txBody>
          <a:bodyPr wrap="square" rtlCol="0" anchor="ctr"/>
          <a:lstStyle/>
          <a:p>
            <a:pPr marL="0" indent="0">
              <a:lnSpc>
                <a:spcPct val="120000"/>
              </a:lnSpc>
              <a:buNone/>
            </a:pPr>
            <a:r>
              <a:rPr lang="en-US" sz="1150" dirty="0">
                <a:solidFill>
                  <a:srgbClr val="9A9AB5"/>
                </a:solidFill>
                <a:latin typeface="Calibri" pitchFamily="34" charset="0"/>
                <a:ea typeface="Calibri" pitchFamily="34" charset="-122"/>
                <a:cs typeface="Calibri" pitchFamily="34" charset="-120"/>
              </a:rPr>
              <a:t>Dual-mode reporting with category, location, date &amp; photo.</a:t>
            </a:r>
            <a:endParaRPr lang="en-US" sz="1150" dirty="0"/>
          </a:p>
        </p:txBody>
      </p:sp>
      <p:sp>
        <p:nvSpPr>
          <p:cNvPr id="8" name="Shape 5"/>
          <p:cNvSpPr/>
          <p:nvPr/>
        </p:nvSpPr>
        <p:spPr>
          <a:xfrm>
            <a:off x="4416552" y="1691640"/>
            <a:ext cx="3611880" cy="2148840"/>
          </a:xfrm>
          <a:prstGeom prst="roundRect">
            <a:avLst>
              <a:gd name="adj" fmla="val 3830"/>
            </a:avLst>
          </a:prstGeom>
          <a:solidFill>
            <a:srgbClr val="13131A"/>
          </a:solidFill>
          <a:ln w="12700">
            <a:solidFill>
              <a:srgbClr val="2A2A38"/>
            </a:solidFill>
            <a:prstDash val="solid"/>
          </a:ln>
        </p:spPr>
      </p:sp>
      <p:sp>
        <p:nvSpPr>
          <p:cNvPr id="9" name="Shape 6"/>
          <p:cNvSpPr/>
          <p:nvPr/>
        </p:nvSpPr>
        <p:spPr>
          <a:xfrm>
            <a:off x="4672584" y="1947672"/>
            <a:ext cx="566928" cy="566928"/>
          </a:xfrm>
          <a:prstGeom prst="ellipse">
            <a:avLst/>
          </a:prstGeom>
          <a:solidFill>
            <a:srgbClr val="1C1C28"/>
          </a:solidFill>
          <a:ln w="12700">
            <a:solidFill>
              <a:srgbClr val="F0C04A"/>
            </a:solidFill>
            <a:prstDash val="solid"/>
          </a:ln>
        </p:spPr>
      </p:sp>
      <p:pic>
        <p:nvPicPr>
          <p:cNvPr id="10" name="Image 1" descr="/home/claude/pptx/icons/filter.png"/>
          <p:cNvPicPr>
            <a:picLocks noChangeAspect="1"/>
          </p:cNvPicPr>
          <p:nvPr/>
        </p:nvPicPr>
        <p:blipFill>
          <a:blip r:embed="rId4"/>
          <a:stretch>
            <a:fillRect/>
          </a:stretch>
        </p:blipFill>
        <p:spPr>
          <a:xfrm>
            <a:off x="4818888" y="2093976"/>
            <a:ext cx="274320" cy="274320"/>
          </a:xfrm>
          <a:prstGeom prst="rect">
            <a:avLst/>
          </a:prstGeom>
        </p:spPr>
      </p:pic>
      <p:sp>
        <p:nvSpPr>
          <p:cNvPr id="11" name="Text 7"/>
          <p:cNvSpPr/>
          <p:nvPr/>
        </p:nvSpPr>
        <p:spPr>
          <a:xfrm>
            <a:off x="4672584" y="2606040"/>
            <a:ext cx="3099816" cy="365760"/>
          </a:xfrm>
          <a:prstGeom prst="rect">
            <a:avLst/>
          </a:prstGeom>
          <a:noFill/>
          <a:ln/>
        </p:spPr>
        <p:txBody>
          <a:bodyPr wrap="square" rtlCol="0" anchor="ctr"/>
          <a:lstStyle/>
          <a:p>
            <a:pPr marL="0" indent="0">
              <a:buNone/>
            </a:pPr>
            <a:r>
              <a:rPr lang="en-US" sz="1450" b="1" dirty="0">
                <a:solidFill>
                  <a:srgbClr val="F0EFF5"/>
                </a:solidFill>
                <a:latin typeface="Calibri" pitchFamily="34" charset="0"/>
                <a:ea typeface="Calibri" pitchFamily="34" charset="-122"/>
                <a:cs typeface="Calibri" pitchFamily="34" charset="-120"/>
              </a:rPr>
              <a:t>Search &amp; Filter</a:t>
            </a:r>
            <a:endParaRPr lang="en-US" sz="1450" dirty="0"/>
          </a:p>
        </p:txBody>
      </p:sp>
      <p:sp>
        <p:nvSpPr>
          <p:cNvPr id="12" name="Text 8"/>
          <p:cNvSpPr/>
          <p:nvPr/>
        </p:nvSpPr>
        <p:spPr>
          <a:xfrm>
            <a:off x="4672584" y="2990088"/>
            <a:ext cx="3099816" cy="731520"/>
          </a:xfrm>
          <a:prstGeom prst="rect">
            <a:avLst/>
          </a:prstGeom>
          <a:noFill/>
          <a:ln/>
        </p:spPr>
        <p:txBody>
          <a:bodyPr wrap="square" rtlCol="0" anchor="ctr"/>
          <a:lstStyle/>
          <a:p>
            <a:pPr marL="0" indent="0">
              <a:lnSpc>
                <a:spcPct val="120000"/>
              </a:lnSpc>
              <a:buNone/>
            </a:pPr>
            <a:r>
              <a:rPr lang="en-US" sz="1150" dirty="0">
                <a:solidFill>
                  <a:srgbClr val="9A9AB5"/>
                </a:solidFill>
                <a:latin typeface="Calibri" pitchFamily="34" charset="0"/>
                <a:ea typeface="Calibri" pitchFamily="34" charset="-122"/>
                <a:cs typeface="Calibri" pitchFamily="34" charset="-120"/>
              </a:rPr>
              <a:t>Live keyword search plus type &amp; category filters.</a:t>
            </a:r>
            <a:endParaRPr lang="en-US" sz="1150" dirty="0"/>
          </a:p>
        </p:txBody>
      </p:sp>
      <p:sp>
        <p:nvSpPr>
          <p:cNvPr id="13" name="Shape 9"/>
          <p:cNvSpPr/>
          <p:nvPr/>
        </p:nvSpPr>
        <p:spPr>
          <a:xfrm>
            <a:off x="8284464" y="1691640"/>
            <a:ext cx="3611880" cy="2148840"/>
          </a:xfrm>
          <a:prstGeom prst="roundRect">
            <a:avLst>
              <a:gd name="adj" fmla="val 3830"/>
            </a:avLst>
          </a:prstGeom>
          <a:solidFill>
            <a:srgbClr val="13131A"/>
          </a:solidFill>
          <a:ln w="12700">
            <a:solidFill>
              <a:srgbClr val="2A2A38"/>
            </a:solidFill>
            <a:prstDash val="solid"/>
          </a:ln>
        </p:spPr>
      </p:sp>
      <p:sp>
        <p:nvSpPr>
          <p:cNvPr id="14" name="Shape 10"/>
          <p:cNvSpPr/>
          <p:nvPr/>
        </p:nvSpPr>
        <p:spPr>
          <a:xfrm>
            <a:off x="8540496" y="1947672"/>
            <a:ext cx="566928" cy="566928"/>
          </a:xfrm>
          <a:prstGeom prst="ellipse">
            <a:avLst/>
          </a:prstGeom>
          <a:solidFill>
            <a:srgbClr val="1C1C28"/>
          </a:solidFill>
          <a:ln w="12700">
            <a:solidFill>
              <a:srgbClr val="F0C04A"/>
            </a:solidFill>
            <a:prstDash val="solid"/>
          </a:ln>
        </p:spPr>
      </p:sp>
      <p:pic>
        <p:nvPicPr>
          <p:cNvPr id="15" name="Image 2" descr="/home/claude/pptx/icons/comments.png"/>
          <p:cNvPicPr>
            <a:picLocks noChangeAspect="1"/>
          </p:cNvPicPr>
          <p:nvPr/>
        </p:nvPicPr>
        <p:blipFill>
          <a:blip r:embed="rId5"/>
          <a:stretch>
            <a:fillRect/>
          </a:stretch>
        </p:blipFill>
        <p:spPr>
          <a:xfrm>
            <a:off x="8686800" y="2093976"/>
            <a:ext cx="274320" cy="274320"/>
          </a:xfrm>
          <a:prstGeom prst="rect">
            <a:avLst/>
          </a:prstGeom>
        </p:spPr>
      </p:pic>
      <p:sp>
        <p:nvSpPr>
          <p:cNvPr id="16" name="Text 11"/>
          <p:cNvSpPr/>
          <p:nvPr/>
        </p:nvSpPr>
        <p:spPr>
          <a:xfrm>
            <a:off x="8540496" y="2606040"/>
            <a:ext cx="3099816" cy="365760"/>
          </a:xfrm>
          <a:prstGeom prst="rect">
            <a:avLst/>
          </a:prstGeom>
          <a:noFill/>
          <a:ln/>
        </p:spPr>
        <p:txBody>
          <a:bodyPr wrap="square" rtlCol="0" anchor="ctr"/>
          <a:lstStyle/>
          <a:p>
            <a:pPr marL="0" indent="0">
              <a:buNone/>
            </a:pPr>
            <a:r>
              <a:rPr lang="en-US" sz="1450" b="1" dirty="0">
                <a:solidFill>
                  <a:srgbClr val="F0EFF5"/>
                </a:solidFill>
                <a:latin typeface="Calibri" pitchFamily="34" charset="0"/>
                <a:ea typeface="Calibri" pitchFamily="34" charset="-122"/>
                <a:cs typeface="Calibri" pitchFamily="34" charset="-120"/>
              </a:rPr>
              <a:t>Direct Messaging</a:t>
            </a:r>
            <a:endParaRPr lang="en-US" sz="1450" dirty="0"/>
          </a:p>
        </p:txBody>
      </p:sp>
      <p:sp>
        <p:nvSpPr>
          <p:cNvPr id="17" name="Text 12"/>
          <p:cNvSpPr/>
          <p:nvPr/>
        </p:nvSpPr>
        <p:spPr>
          <a:xfrm>
            <a:off x="8540496" y="2990088"/>
            <a:ext cx="3099816" cy="731520"/>
          </a:xfrm>
          <a:prstGeom prst="rect">
            <a:avLst/>
          </a:prstGeom>
          <a:noFill/>
          <a:ln/>
        </p:spPr>
        <p:txBody>
          <a:bodyPr wrap="square" rtlCol="0" anchor="ctr"/>
          <a:lstStyle/>
          <a:p>
            <a:pPr marL="0" indent="0">
              <a:lnSpc>
                <a:spcPct val="120000"/>
              </a:lnSpc>
              <a:buNone/>
            </a:pPr>
            <a:r>
              <a:rPr lang="en-US" sz="1150" dirty="0">
                <a:solidFill>
                  <a:srgbClr val="9A9AB5"/>
                </a:solidFill>
                <a:latin typeface="Calibri" pitchFamily="34" charset="0"/>
                <a:ea typeface="Calibri" pitchFamily="34" charset="-122"/>
                <a:cs typeface="Calibri" pitchFamily="34" charset="-120"/>
              </a:rPr>
              <a:t>In-app messages link finder and owner per item.</a:t>
            </a:r>
            <a:endParaRPr lang="en-US" sz="1150" dirty="0"/>
          </a:p>
        </p:txBody>
      </p:sp>
      <p:sp>
        <p:nvSpPr>
          <p:cNvPr id="18" name="Shape 13"/>
          <p:cNvSpPr/>
          <p:nvPr/>
        </p:nvSpPr>
        <p:spPr>
          <a:xfrm>
            <a:off x="548640" y="4114800"/>
            <a:ext cx="3611880" cy="2148840"/>
          </a:xfrm>
          <a:prstGeom prst="roundRect">
            <a:avLst>
              <a:gd name="adj" fmla="val 3830"/>
            </a:avLst>
          </a:prstGeom>
          <a:solidFill>
            <a:srgbClr val="13131A"/>
          </a:solidFill>
          <a:ln w="12700">
            <a:solidFill>
              <a:srgbClr val="2A2A38"/>
            </a:solidFill>
            <a:prstDash val="solid"/>
          </a:ln>
        </p:spPr>
      </p:sp>
      <p:sp>
        <p:nvSpPr>
          <p:cNvPr id="19" name="Shape 14"/>
          <p:cNvSpPr/>
          <p:nvPr/>
        </p:nvSpPr>
        <p:spPr>
          <a:xfrm>
            <a:off x="804672" y="4370832"/>
            <a:ext cx="566928" cy="566928"/>
          </a:xfrm>
          <a:prstGeom prst="ellipse">
            <a:avLst/>
          </a:prstGeom>
          <a:solidFill>
            <a:srgbClr val="1C1C28"/>
          </a:solidFill>
          <a:ln w="12700">
            <a:solidFill>
              <a:srgbClr val="F0C04A"/>
            </a:solidFill>
            <a:prstDash val="solid"/>
          </a:ln>
        </p:spPr>
      </p:sp>
      <p:pic>
        <p:nvPicPr>
          <p:cNvPr id="20" name="Image 3" descr="/home/claude/pptx/icons/usershield.png"/>
          <p:cNvPicPr>
            <a:picLocks noChangeAspect="1"/>
          </p:cNvPicPr>
          <p:nvPr/>
        </p:nvPicPr>
        <p:blipFill>
          <a:blip r:embed="rId6"/>
          <a:stretch>
            <a:fillRect/>
          </a:stretch>
        </p:blipFill>
        <p:spPr>
          <a:xfrm>
            <a:off x="950976" y="4517136"/>
            <a:ext cx="274320" cy="274320"/>
          </a:xfrm>
          <a:prstGeom prst="rect">
            <a:avLst/>
          </a:prstGeom>
        </p:spPr>
      </p:pic>
      <p:sp>
        <p:nvSpPr>
          <p:cNvPr id="21" name="Text 15"/>
          <p:cNvSpPr/>
          <p:nvPr/>
        </p:nvSpPr>
        <p:spPr>
          <a:xfrm>
            <a:off x="804672" y="5029200"/>
            <a:ext cx="3099816" cy="365760"/>
          </a:xfrm>
          <a:prstGeom prst="rect">
            <a:avLst/>
          </a:prstGeom>
          <a:noFill/>
          <a:ln/>
        </p:spPr>
        <p:txBody>
          <a:bodyPr wrap="square" rtlCol="0" anchor="ctr"/>
          <a:lstStyle/>
          <a:p>
            <a:pPr marL="0" indent="0">
              <a:buNone/>
            </a:pPr>
            <a:r>
              <a:rPr lang="en-US" sz="1450" b="1" dirty="0">
                <a:solidFill>
                  <a:srgbClr val="F0EFF5"/>
                </a:solidFill>
                <a:latin typeface="Calibri" pitchFamily="34" charset="0"/>
                <a:ea typeface="Calibri" pitchFamily="34" charset="-122"/>
                <a:cs typeface="Calibri" pitchFamily="34" charset="-120"/>
              </a:rPr>
              <a:t>Role-Based Access</a:t>
            </a:r>
            <a:endParaRPr lang="en-US" sz="1450" dirty="0"/>
          </a:p>
        </p:txBody>
      </p:sp>
      <p:sp>
        <p:nvSpPr>
          <p:cNvPr id="22" name="Text 16"/>
          <p:cNvSpPr/>
          <p:nvPr/>
        </p:nvSpPr>
        <p:spPr>
          <a:xfrm>
            <a:off x="804672" y="5413248"/>
            <a:ext cx="3099816" cy="731520"/>
          </a:xfrm>
          <a:prstGeom prst="rect">
            <a:avLst/>
          </a:prstGeom>
          <a:noFill/>
          <a:ln/>
        </p:spPr>
        <p:txBody>
          <a:bodyPr wrap="square" rtlCol="0" anchor="ctr"/>
          <a:lstStyle/>
          <a:p>
            <a:pPr marL="0" indent="0">
              <a:lnSpc>
                <a:spcPct val="120000"/>
              </a:lnSpc>
              <a:buNone/>
            </a:pPr>
            <a:r>
              <a:rPr lang="en-US" sz="1150" dirty="0">
                <a:solidFill>
                  <a:srgbClr val="9A9AB5"/>
                </a:solidFill>
                <a:latin typeface="Calibri" pitchFamily="34" charset="0"/>
                <a:ea typeface="Calibri" pitchFamily="34" charset="-122"/>
                <a:cs typeface="Calibri" pitchFamily="34" charset="-120"/>
              </a:rPr>
              <a:t>Students and admin permission levels.</a:t>
            </a:r>
            <a:endParaRPr lang="en-US" sz="1150" dirty="0"/>
          </a:p>
        </p:txBody>
      </p:sp>
      <p:sp>
        <p:nvSpPr>
          <p:cNvPr id="23" name="Shape 17"/>
          <p:cNvSpPr/>
          <p:nvPr/>
        </p:nvSpPr>
        <p:spPr>
          <a:xfrm>
            <a:off x="4416552" y="4114800"/>
            <a:ext cx="3611880" cy="2148840"/>
          </a:xfrm>
          <a:prstGeom prst="roundRect">
            <a:avLst>
              <a:gd name="adj" fmla="val 3830"/>
            </a:avLst>
          </a:prstGeom>
          <a:solidFill>
            <a:srgbClr val="13131A"/>
          </a:solidFill>
          <a:ln w="12700">
            <a:solidFill>
              <a:srgbClr val="2A2A38"/>
            </a:solidFill>
            <a:prstDash val="solid"/>
          </a:ln>
        </p:spPr>
      </p:sp>
      <p:sp>
        <p:nvSpPr>
          <p:cNvPr id="24" name="Shape 18"/>
          <p:cNvSpPr/>
          <p:nvPr/>
        </p:nvSpPr>
        <p:spPr>
          <a:xfrm>
            <a:off x="4672584" y="4370832"/>
            <a:ext cx="566928" cy="566928"/>
          </a:xfrm>
          <a:prstGeom prst="ellipse">
            <a:avLst/>
          </a:prstGeom>
          <a:solidFill>
            <a:srgbClr val="1C1C28"/>
          </a:solidFill>
          <a:ln w="12700">
            <a:solidFill>
              <a:srgbClr val="F0C04A"/>
            </a:solidFill>
            <a:prstDash val="solid"/>
          </a:ln>
        </p:spPr>
      </p:sp>
      <p:pic>
        <p:nvPicPr>
          <p:cNvPr id="25" name="Image 4" descr="/home/claude/pptx/icons/image.png"/>
          <p:cNvPicPr>
            <a:picLocks noChangeAspect="1"/>
          </p:cNvPicPr>
          <p:nvPr/>
        </p:nvPicPr>
        <p:blipFill>
          <a:blip r:embed="rId7"/>
          <a:stretch>
            <a:fillRect/>
          </a:stretch>
        </p:blipFill>
        <p:spPr>
          <a:xfrm>
            <a:off x="4818888" y="4517136"/>
            <a:ext cx="274320" cy="274320"/>
          </a:xfrm>
          <a:prstGeom prst="rect">
            <a:avLst/>
          </a:prstGeom>
        </p:spPr>
      </p:pic>
      <p:sp>
        <p:nvSpPr>
          <p:cNvPr id="26" name="Text 19"/>
          <p:cNvSpPr/>
          <p:nvPr/>
        </p:nvSpPr>
        <p:spPr>
          <a:xfrm>
            <a:off x="4672584" y="5029200"/>
            <a:ext cx="3099816" cy="365760"/>
          </a:xfrm>
          <a:prstGeom prst="rect">
            <a:avLst/>
          </a:prstGeom>
          <a:noFill/>
          <a:ln/>
        </p:spPr>
        <p:txBody>
          <a:bodyPr wrap="square" rtlCol="0" anchor="ctr"/>
          <a:lstStyle/>
          <a:p>
            <a:pPr marL="0" indent="0">
              <a:buNone/>
            </a:pPr>
            <a:r>
              <a:rPr lang="en-US" sz="1450" b="1" dirty="0">
                <a:solidFill>
                  <a:srgbClr val="F0EFF5"/>
                </a:solidFill>
                <a:latin typeface="Calibri" pitchFamily="34" charset="0"/>
                <a:ea typeface="Calibri" pitchFamily="34" charset="-122"/>
                <a:cs typeface="Calibri" pitchFamily="34" charset="-120"/>
              </a:rPr>
              <a:t>Image Uploads</a:t>
            </a:r>
            <a:endParaRPr lang="en-US" sz="1450" dirty="0"/>
          </a:p>
        </p:txBody>
      </p:sp>
      <p:sp>
        <p:nvSpPr>
          <p:cNvPr id="27" name="Text 20"/>
          <p:cNvSpPr/>
          <p:nvPr/>
        </p:nvSpPr>
        <p:spPr>
          <a:xfrm>
            <a:off x="4672584" y="5413248"/>
            <a:ext cx="3099816" cy="731520"/>
          </a:xfrm>
          <a:prstGeom prst="rect">
            <a:avLst/>
          </a:prstGeom>
          <a:noFill/>
          <a:ln/>
        </p:spPr>
        <p:txBody>
          <a:bodyPr wrap="square" rtlCol="0" anchor="ctr"/>
          <a:lstStyle/>
          <a:p>
            <a:pPr marL="0" indent="0">
              <a:lnSpc>
                <a:spcPct val="120000"/>
              </a:lnSpc>
              <a:buNone/>
            </a:pPr>
            <a:r>
              <a:rPr lang="en-US" sz="1150" dirty="0">
                <a:solidFill>
                  <a:srgbClr val="9A9AB5"/>
                </a:solidFill>
                <a:latin typeface="Calibri" pitchFamily="34" charset="0"/>
                <a:ea typeface="Calibri" pitchFamily="34" charset="-122"/>
                <a:cs typeface="Calibri" pitchFamily="34" charset="-120"/>
              </a:rPr>
              <a:t>Attach photos to listings for faster identification.</a:t>
            </a:r>
            <a:endParaRPr lang="en-US" sz="1150" dirty="0"/>
          </a:p>
        </p:txBody>
      </p:sp>
      <p:sp>
        <p:nvSpPr>
          <p:cNvPr id="28" name="Shape 21"/>
          <p:cNvSpPr/>
          <p:nvPr/>
        </p:nvSpPr>
        <p:spPr>
          <a:xfrm>
            <a:off x="8284464" y="4114800"/>
            <a:ext cx="3611880" cy="2148840"/>
          </a:xfrm>
          <a:prstGeom prst="roundRect">
            <a:avLst>
              <a:gd name="adj" fmla="val 3830"/>
            </a:avLst>
          </a:prstGeom>
          <a:solidFill>
            <a:srgbClr val="13131A"/>
          </a:solidFill>
          <a:ln w="12700">
            <a:solidFill>
              <a:srgbClr val="2A2A38"/>
            </a:solidFill>
            <a:prstDash val="solid"/>
          </a:ln>
        </p:spPr>
      </p:sp>
      <p:sp>
        <p:nvSpPr>
          <p:cNvPr id="29" name="Shape 22"/>
          <p:cNvSpPr/>
          <p:nvPr/>
        </p:nvSpPr>
        <p:spPr>
          <a:xfrm>
            <a:off x="8540496" y="4370832"/>
            <a:ext cx="566928" cy="566928"/>
          </a:xfrm>
          <a:prstGeom prst="ellipse">
            <a:avLst/>
          </a:prstGeom>
          <a:solidFill>
            <a:srgbClr val="1C1C28"/>
          </a:solidFill>
          <a:ln w="12700">
            <a:solidFill>
              <a:srgbClr val="F0C04A"/>
            </a:solidFill>
            <a:prstDash val="solid"/>
          </a:ln>
        </p:spPr>
      </p:sp>
      <p:pic>
        <p:nvPicPr>
          <p:cNvPr id="30" name="Image 5" descr="/home/claude/pptx/icons/database.png"/>
          <p:cNvPicPr>
            <a:picLocks noChangeAspect="1"/>
          </p:cNvPicPr>
          <p:nvPr/>
        </p:nvPicPr>
        <p:blipFill>
          <a:blip r:embed="rId8"/>
          <a:stretch>
            <a:fillRect/>
          </a:stretch>
        </p:blipFill>
        <p:spPr>
          <a:xfrm>
            <a:off x="8686800" y="4517136"/>
            <a:ext cx="274320" cy="274320"/>
          </a:xfrm>
          <a:prstGeom prst="rect">
            <a:avLst/>
          </a:prstGeom>
        </p:spPr>
      </p:pic>
      <p:sp>
        <p:nvSpPr>
          <p:cNvPr id="31" name="Text 23"/>
          <p:cNvSpPr/>
          <p:nvPr/>
        </p:nvSpPr>
        <p:spPr>
          <a:xfrm>
            <a:off x="8540496" y="5029200"/>
            <a:ext cx="3099816" cy="365760"/>
          </a:xfrm>
          <a:prstGeom prst="rect">
            <a:avLst/>
          </a:prstGeom>
          <a:noFill/>
          <a:ln/>
        </p:spPr>
        <p:txBody>
          <a:bodyPr wrap="square" rtlCol="0" anchor="ctr"/>
          <a:lstStyle/>
          <a:p>
            <a:pPr marL="0" indent="0">
              <a:buNone/>
            </a:pPr>
            <a:r>
              <a:rPr lang="en-US" sz="1450" b="1" dirty="0">
                <a:solidFill>
                  <a:srgbClr val="F0EFF5"/>
                </a:solidFill>
                <a:latin typeface="Calibri" pitchFamily="34" charset="0"/>
                <a:ea typeface="Calibri" pitchFamily="34" charset="-122"/>
                <a:cs typeface="Calibri" pitchFamily="34" charset="-120"/>
              </a:rPr>
              <a:t>Admin Dashboard</a:t>
            </a:r>
            <a:endParaRPr lang="en-US" sz="1450" dirty="0"/>
          </a:p>
        </p:txBody>
      </p:sp>
      <p:sp>
        <p:nvSpPr>
          <p:cNvPr id="32" name="Text 24"/>
          <p:cNvSpPr/>
          <p:nvPr/>
        </p:nvSpPr>
        <p:spPr>
          <a:xfrm>
            <a:off x="8540496" y="5413248"/>
            <a:ext cx="3099816" cy="731520"/>
          </a:xfrm>
          <a:prstGeom prst="rect">
            <a:avLst/>
          </a:prstGeom>
          <a:noFill/>
          <a:ln/>
        </p:spPr>
        <p:txBody>
          <a:bodyPr wrap="square" rtlCol="0" anchor="ctr"/>
          <a:lstStyle/>
          <a:p>
            <a:pPr marL="0" indent="0">
              <a:lnSpc>
                <a:spcPct val="120000"/>
              </a:lnSpc>
              <a:buNone/>
            </a:pPr>
            <a:r>
              <a:rPr lang="en-US" sz="1150" dirty="0">
                <a:solidFill>
                  <a:srgbClr val="9A9AB5"/>
                </a:solidFill>
                <a:latin typeface="Calibri" pitchFamily="34" charset="0"/>
                <a:ea typeface="Calibri" pitchFamily="34" charset="-122"/>
                <a:cs typeface="Calibri" pitchFamily="34" charset="-120"/>
              </a:rPr>
              <a:t>Approve, resolve, or remove reports campus-wide.</a:t>
            </a:r>
            <a:endParaRPr lang="en-US" sz="1150" dirty="0"/>
          </a:p>
        </p:txBody>
      </p:sp>
      <p:sp>
        <p:nvSpPr>
          <p:cNvPr id="33" name="Text 25"/>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34" name="Text 2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System Modules</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The three functional modules defined in the project</a:t>
            </a:r>
            <a:endParaRPr lang="en-US" sz="1400" dirty="0"/>
          </a:p>
        </p:txBody>
      </p:sp>
      <p:sp>
        <p:nvSpPr>
          <p:cNvPr id="4" name="Shape 2"/>
          <p:cNvSpPr/>
          <p:nvPr/>
        </p:nvSpPr>
        <p:spPr>
          <a:xfrm>
            <a:off x="548640" y="1737360"/>
            <a:ext cx="3611880" cy="3383280"/>
          </a:xfrm>
          <a:prstGeom prst="roundRect">
            <a:avLst>
              <a:gd name="adj" fmla="val 2703"/>
            </a:avLst>
          </a:prstGeom>
          <a:solidFill>
            <a:srgbClr val="13131A"/>
          </a:solidFill>
          <a:ln w="12700">
            <a:solidFill>
              <a:srgbClr val="2A2A38"/>
            </a:solidFill>
            <a:prstDash val="solid"/>
          </a:ln>
        </p:spPr>
      </p:sp>
      <p:sp>
        <p:nvSpPr>
          <p:cNvPr id="5" name="Shape 3"/>
          <p:cNvSpPr/>
          <p:nvPr/>
        </p:nvSpPr>
        <p:spPr>
          <a:xfrm>
            <a:off x="822960" y="2029968"/>
            <a:ext cx="640080" cy="640080"/>
          </a:xfrm>
          <a:prstGeom prst="ellipse">
            <a:avLst/>
          </a:prstGeom>
          <a:solidFill>
            <a:srgbClr val="1C1C28"/>
          </a:solidFill>
          <a:ln w="15875">
            <a:solidFill>
              <a:srgbClr val="F0C04A"/>
            </a:solidFill>
            <a:prstDash val="solid"/>
          </a:ln>
        </p:spPr>
      </p:sp>
      <p:pic>
        <p:nvPicPr>
          <p:cNvPr id="6" name="Image 0" descr="/home/claude/pptx/icons/usershield.png"/>
          <p:cNvPicPr>
            <a:picLocks noChangeAspect="1"/>
          </p:cNvPicPr>
          <p:nvPr/>
        </p:nvPicPr>
        <p:blipFill>
          <a:blip r:embed="rId3"/>
          <a:stretch>
            <a:fillRect/>
          </a:stretch>
        </p:blipFill>
        <p:spPr>
          <a:xfrm>
            <a:off x="987552" y="2194560"/>
            <a:ext cx="310896" cy="310896"/>
          </a:xfrm>
          <a:prstGeom prst="rect">
            <a:avLst/>
          </a:prstGeom>
        </p:spPr>
      </p:pic>
      <p:sp>
        <p:nvSpPr>
          <p:cNvPr id="7" name="Text 4"/>
          <p:cNvSpPr/>
          <p:nvPr/>
        </p:nvSpPr>
        <p:spPr>
          <a:xfrm>
            <a:off x="3291840" y="1993392"/>
            <a:ext cx="685800" cy="457200"/>
          </a:xfrm>
          <a:prstGeom prst="rect">
            <a:avLst/>
          </a:prstGeom>
          <a:noFill/>
          <a:ln/>
        </p:spPr>
        <p:txBody>
          <a:bodyPr wrap="square" rtlCol="0" anchor="ctr"/>
          <a:lstStyle/>
          <a:p>
            <a:pPr marL="0" indent="0" algn="r">
              <a:buNone/>
            </a:pPr>
            <a:r>
              <a:rPr lang="en-US" sz="2000" b="1" dirty="0">
                <a:solidFill>
                  <a:srgbClr val="2A2A38"/>
                </a:solidFill>
                <a:latin typeface="Century Schoolbook" pitchFamily="34" charset="0"/>
                <a:ea typeface="Century Schoolbook" pitchFamily="34" charset="-122"/>
                <a:cs typeface="Century Schoolbook" pitchFamily="34" charset="-120"/>
              </a:rPr>
              <a:t>01</a:t>
            </a:r>
            <a:endParaRPr lang="en-US" sz="2000" dirty="0"/>
          </a:p>
        </p:txBody>
      </p:sp>
      <p:sp>
        <p:nvSpPr>
          <p:cNvPr id="8" name="Text 5"/>
          <p:cNvSpPr/>
          <p:nvPr/>
        </p:nvSpPr>
        <p:spPr>
          <a:xfrm>
            <a:off x="841248" y="2880360"/>
            <a:ext cx="3026664" cy="685800"/>
          </a:xfrm>
          <a:prstGeom prst="rect">
            <a:avLst/>
          </a:prstGeom>
          <a:noFill/>
          <a:ln/>
        </p:spPr>
        <p:txBody>
          <a:bodyPr wrap="square" rtlCol="0" anchor="ctr"/>
          <a:lstStyle/>
          <a:p>
            <a:pPr marL="0" indent="0">
              <a:buNone/>
            </a:pPr>
            <a:r>
              <a:rPr lang="en-US" sz="1500" b="1" dirty="0">
                <a:solidFill>
                  <a:srgbClr val="F0EFF5"/>
                </a:solidFill>
                <a:latin typeface="Calibri" pitchFamily="34" charset="0"/>
                <a:ea typeface="Calibri" pitchFamily="34" charset="-122"/>
                <a:cs typeface="Calibri" pitchFamily="34" charset="-120"/>
              </a:rPr>
              <a:t>User Authentication Module</a:t>
            </a:r>
            <a:endParaRPr lang="en-US" sz="1500" dirty="0"/>
          </a:p>
        </p:txBody>
      </p:sp>
      <p:sp>
        <p:nvSpPr>
          <p:cNvPr id="9" name="Text 6"/>
          <p:cNvSpPr/>
          <p:nvPr/>
        </p:nvSpPr>
        <p:spPr>
          <a:xfrm>
            <a:off x="841248" y="3611880"/>
            <a:ext cx="3026664" cy="1371600"/>
          </a:xfrm>
          <a:prstGeom prst="rect">
            <a:avLst/>
          </a:prstGeom>
          <a:noFill/>
          <a:ln/>
        </p:spPr>
        <p:txBody>
          <a:bodyPr wrap="square" rtlCol="0" anchor="ctr"/>
          <a:lstStyle/>
          <a:p>
            <a:pPr marL="0" indent="0">
              <a:lnSpc>
                <a:spcPct val="130000"/>
              </a:lnSpc>
              <a:buNone/>
            </a:pPr>
            <a:r>
              <a:rPr lang="en-US" sz="1150" dirty="0">
                <a:solidFill>
                  <a:srgbClr val="9A9AB5"/>
                </a:solidFill>
                <a:latin typeface="Calibri" pitchFamily="34" charset="0"/>
                <a:ea typeface="Calibri" pitchFamily="34" charset="-122"/>
                <a:cs typeface="Calibri" pitchFamily="34" charset="-120"/>
              </a:rPr>
              <a:t>Ensures only verified university students and faculty can access the system by verify id — register, log in, and get a role-based session.</a:t>
            </a:r>
            <a:endParaRPr lang="en-US" sz="1150" dirty="0"/>
          </a:p>
        </p:txBody>
      </p:sp>
      <p:sp>
        <p:nvSpPr>
          <p:cNvPr id="10" name="Shape 7"/>
          <p:cNvSpPr/>
          <p:nvPr/>
        </p:nvSpPr>
        <p:spPr>
          <a:xfrm>
            <a:off x="4416552" y="1737360"/>
            <a:ext cx="3611880" cy="3383280"/>
          </a:xfrm>
          <a:prstGeom prst="roundRect">
            <a:avLst>
              <a:gd name="adj" fmla="val 2703"/>
            </a:avLst>
          </a:prstGeom>
          <a:solidFill>
            <a:srgbClr val="13131A"/>
          </a:solidFill>
          <a:ln w="12700">
            <a:solidFill>
              <a:srgbClr val="2A2A38"/>
            </a:solidFill>
            <a:prstDash val="solid"/>
          </a:ln>
        </p:spPr>
      </p:sp>
      <p:sp>
        <p:nvSpPr>
          <p:cNvPr id="11" name="Shape 8"/>
          <p:cNvSpPr/>
          <p:nvPr/>
        </p:nvSpPr>
        <p:spPr>
          <a:xfrm>
            <a:off x="4690872" y="2029968"/>
            <a:ext cx="640080" cy="640080"/>
          </a:xfrm>
          <a:prstGeom prst="ellipse">
            <a:avLst/>
          </a:prstGeom>
          <a:solidFill>
            <a:srgbClr val="1C1C28"/>
          </a:solidFill>
          <a:ln w="15875">
            <a:solidFill>
              <a:srgbClr val="F0C04A"/>
            </a:solidFill>
            <a:prstDash val="solid"/>
          </a:ln>
        </p:spPr>
      </p:sp>
      <p:pic>
        <p:nvPicPr>
          <p:cNvPr id="12" name="Image 1" descr="/home/claude/pptx/icons/exchange.png"/>
          <p:cNvPicPr>
            <a:picLocks noChangeAspect="1"/>
          </p:cNvPicPr>
          <p:nvPr/>
        </p:nvPicPr>
        <p:blipFill>
          <a:blip r:embed="rId4"/>
          <a:stretch>
            <a:fillRect/>
          </a:stretch>
        </p:blipFill>
        <p:spPr>
          <a:xfrm>
            <a:off x="4855464" y="2194560"/>
            <a:ext cx="310896" cy="310896"/>
          </a:xfrm>
          <a:prstGeom prst="rect">
            <a:avLst/>
          </a:prstGeom>
        </p:spPr>
      </p:pic>
      <p:sp>
        <p:nvSpPr>
          <p:cNvPr id="13" name="Text 9"/>
          <p:cNvSpPr/>
          <p:nvPr/>
        </p:nvSpPr>
        <p:spPr>
          <a:xfrm>
            <a:off x="7159752" y="1993392"/>
            <a:ext cx="685800" cy="457200"/>
          </a:xfrm>
          <a:prstGeom prst="rect">
            <a:avLst/>
          </a:prstGeom>
          <a:noFill/>
          <a:ln/>
        </p:spPr>
        <p:txBody>
          <a:bodyPr wrap="square" rtlCol="0" anchor="ctr"/>
          <a:lstStyle/>
          <a:p>
            <a:pPr marL="0" indent="0" algn="r">
              <a:buNone/>
            </a:pPr>
            <a:r>
              <a:rPr lang="en-US" sz="2000" b="1" dirty="0">
                <a:solidFill>
                  <a:srgbClr val="2A2A38"/>
                </a:solidFill>
                <a:latin typeface="Century Schoolbook" pitchFamily="34" charset="0"/>
                <a:ea typeface="Century Schoolbook" pitchFamily="34" charset="-122"/>
                <a:cs typeface="Century Schoolbook" pitchFamily="34" charset="-120"/>
              </a:rPr>
              <a:t>02</a:t>
            </a:r>
            <a:endParaRPr lang="en-US" sz="2000" dirty="0"/>
          </a:p>
        </p:txBody>
      </p:sp>
      <p:sp>
        <p:nvSpPr>
          <p:cNvPr id="14" name="Text 10"/>
          <p:cNvSpPr/>
          <p:nvPr/>
        </p:nvSpPr>
        <p:spPr>
          <a:xfrm>
            <a:off x="4709160" y="2880360"/>
            <a:ext cx="3026664" cy="685800"/>
          </a:xfrm>
          <a:prstGeom prst="rect">
            <a:avLst/>
          </a:prstGeom>
          <a:noFill/>
          <a:ln/>
        </p:spPr>
        <p:txBody>
          <a:bodyPr wrap="square" rtlCol="0" anchor="ctr"/>
          <a:lstStyle/>
          <a:p>
            <a:pPr marL="0" indent="0">
              <a:buNone/>
            </a:pPr>
            <a:r>
              <a:rPr lang="en-US" sz="1500" b="1" dirty="0">
                <a:solidFill>
                  <a:srgbClr val="F0EFF5"/>
                </a:solidFill>
                <a:latin typeface="Calibri" pitchFamily="34" charset="0"/>
                <a:ea typeface="Calibri" pitchFamily="34" charset="-122"/>
                <a:cs typeface="Calibri" pitchFamily="34" charset="-120"/>
              </a:rPr>
              <a:t>Item Management Module</a:t>
            </a:r>
            <a:endParaRPr lang="en-US" sz="1500" dirty="0"/>
          </a:p>
        </p:txBody>
      </p:sp>
      <p:sp>
        <p:nvSpPr>
          <p:cNvPr id="15" name="Text 11"/>
          <p:cNvSpPr/>
          <p:nvPr/>
        </p:nvSpPr>
        <p:spPr>
          <a:xfrm>
            <a:off x="4709160" y="3611880"/>
            <a:ext cx="3026664" cy="1371600"/>
          </a:xfrm>
          <a:prstGeom prst="rect">
            <a:avLst/>
          </a:prstGeom>
          <a:noFill/>
          <a:ln/>
        </p:spPr>
        <p:txBody>
          <a:bodyPr wrap="square" rtlCol="0" anchor="ctr"/>
          <a:lstStyle/>
          <a:p>
            <a:pPr marL="0" indent="0">
              <a:lnSpc>
                <a:spcPct val="130000"/>
              </a:lnSpc>
              <a:buNone/>
            </a:pPr>
            <a:r>
              <a:rPr lang="en-US" sz="1150" dirty="0">
                <a:solidFill>
                  <a:srgbClr val="9A9AB5"/>
                </a:solidFill>
                <a:latin typeface="Calibri" pitchFamily="34" charset="0"/>
                <a:ea typeface="Calibri" pitchFamily="34" charset="-122"/>
                <a:cs typeface="Calibri" pitchFamily="34" charset="-120"/>
              </a:rPr>
              <a:t>Let users submit detailed lost/found forms — item name, description, date, time, and specific  location.</a:t>
            </a:r>
            <a:endParaRPr lang="en-US" sz="1150" dirty="0"/>
          </a:p>
        </p:txBody>
      </p:sp>
      <p:sp>
        <p:nvSpPr>
          <p:cNvPr id="16" name="Shape 12"/>
          <p:cNvSpPr/>
          <p:nvPr/>
        </p:nvSpPr>
        <p:spPr>
          <a:xfrm>
            <a:off x="8284464" y="1737360"/>
            <a:ext cx="3611880" cy="3383280"/>
          </a:xfrm>
          <a:prstGeom prst="roundRect">
            <a:avLst>
              <a:gd name="adj" fmla="val 2703"/>
            </a:avLst>
          </a:prstGeom>
          <a:solidFill>
            <a:srgbClr val="13131A"/>
          </a:solidFill>
          <a:ln w="12700">
            <a:solidFill>
              <a:srgbClr val="2A2A38"/>
            </a:solidFill>
            <a:prstDash val="solid"/>
          </a:ln>
        </p:spPr>
      </p:sp>
      <p:sp>
        <p:nvSpPr>
          <p:cNvPr id="17" name="Shape 13"/>
          <p:cNvSpPr/>
          <p:nvPr/>
        </p:nvSpPr>
        <p:spPr>
          <a:xfrm>
            <a:off x="8558784" y="2029968"/>
            <a:ext cx="640080" cy="640080"/>
          </a:xfrm>
          <a:prstGeom prst="ellipse">
            <a:avLst/>
          </a:prstGeom>
          <a:solidFill>
            <a:srgbClr val="1C1C28"/>
          </a:solidFill>
          <a:ln w="15875">
            <a:solidFill>
              <a:srgbClr val="F0C04A"/>
            </a:solidFill>
            <a:prstDash val="solid"/>
          </a:ln>
        </p:spPr>
      </p:sp>
      <p:pic>
        <p:nvPicPr>
          <p:cNvPr id="18" name="Image 2" descr="/home/claude/pptx/icons/filter.png"/>
          <p:cNvPicPr>
            <a:picLocks noChangeAspect="1"/>
          </p:cNvPicPr>
          <p:nvPr/>
        </p:nvPicPr>
        <p:blipFill>
          <a:blip r:embed="rId5"/>
          <a:stretch>
            <a:fillRect/>
          </a:stretch>
        </p:blipFill>
        <p:spPr>
          <a:xfrm>
            <a:off x="8723376" y="2194560"/>
            <a:ext cx="310896" cy="310896"/>
          </a:xfrm>
          <a:prstGeom prst="rect">
            <a:avLst/>
          </a:prstGeom>
        </p:spPr>
      </p:pic>
      <p:sp>
        <p:nvSpPr>
          <p:cNvPr id="19" name="Text 14"/>
          <p:cNvSpPr/>
          <p:nvPr/>
        </p:nvSpPr>
        <p:spPr>
          <a:xfrm>
            <a:off x="11027664" y="1993392"/>
            <a:ext cx="685800" cy="457200"/>
          </a:xfrm>
          <a:prstGeom prst="rect">
            <a:avLst/>
          </a:prstGeom>
          <a:noFill/>
          <a:ln/>
        </p:spPr>
        <p:txBody>
          <a:bodyPr wrap="square" rtlCol="0" anchor="ctr"/>
          <a:lstStyle/>
          <a:p>
            <a:pPr marL="0" indent="0" algn="r">
              <a:buNone/>
            </a:pPr>
            <a:r>
              <a:rPr lang="en-US" sz="2000" b="1" dirty="0">
                <a:solidFill>
                  <a:srgbClr val="2A2A38"/>
                </a:solidFill>
                <a:latin typeface="Century Schoolbook" pitchFamily="34" charset="0"/>
                <a:ea typeface="Century Schoolbook" pitchFamily="34" charset="-122"/>
                <a:cs typeface="Century Schoolbook" pitchFamily="34" charset="-120"/>
              </a:rPr>
              <a:t>03</a:t>
            </a:r>
            <a:endParaRPr lang="en-US" sz="2000" dirty="0"/>
          </a:p>
        </p:txBody>
      </p:sp>
      <p:sp>
        <p:nvSpPr>
          <p:cNvPr id="20" name="Text 15"/>
          <p:cNvSpPr/>
          <p:nvPr/>
        </p:nvSpPr>
        <p:spPr>
          <a:xfrm>
            <a:off x="8577072" y="2880360"/>
            <a:ext cx="3026664" cy="685800"/>
          </a:xfrm>
          <a:prstGeom prst="rect">
            <a:avLst/>
          </a:prstGeom>
          <a:noFill/>
          <a:ln/>
        </p:spPr>
        <p:txBody>
          <a:bodyPr wrap="square" rtlCol="0" anchor="ctr"/>
          <a:lstStyle/>
          <a:p>
            <a:pPr marL="0" indent="0">
              <a:buNone/>
            </a:pPr>
            <a:r>
              <a:rPr lang="en-US" sz="1500" b="1" dirty="0">
                <a:solidFill>
                  <a:srgbClr val="F0EFF5"/>
                </a:solidFill>
                <a:latin typeface="Calibri" pitchFamily="34" charset="0"/>
                <a:ea typeface="Calibri" pitchFamily="34" charset="-122"/>
                <a:cs typeface="Calibri" pitchFamily="34" charset="-120"/>
              </a:rPr>
              <a:t>Search &amp; Filter Module</a:t>
            </a:r>
            <a:endParaRPr lang="en-US" sz="1500" dirty="0"/>
          </a:p>
        </p:txBody>
      </p:sp>
      <p:sp>
        <p:nvSpPr>
          <p:cNvPr id="21" name="Text 16"/>
          <p:cNvSpPr/>
          <p:nvPr/>
        </p:nvSpPr>
        <p:spPr>
          <a:xfrm>
            <a:off x="8577072" y="3611880"/>
            <a:ext cx="3026664" cy="1371600"/>
          </a:xfrm>
          <a:prstGeom prst="rect">
            <a:avLst/>
          </a:prstGeom>
          <a:noFill/>
          <a:ln/>
        </p:spPr>
        <p:txBody>
          <a:bodyPr wrap="square" rtlCol="0" anchor="ctr"/>
          <a:lstStyle/>
          <a:p>
            <a:pPr marL="0" indent="0">
              <a:lnSpc>
                <a:spcPct val="130000"/>
              </a:lnSpc>
              <a:buNone/>
            </a:pPr>
            <a:r>
              <a:rPr lang="en-US" sz="1150" dirty="0">
                <a:solidFill>
                  <a:srgbClr val="9A9AB5"/>
                </a:solidFill>
                <a:latin typeface="Calibri" pitchFamily="34" charset="0"/>
                <a:ea typeface="Calibri" pitchFamily="34" charset="-122"/>
                <a:cs typeface="Calibri" pitchFamily="34" charset="-120"/>
              </a:rPr>
              <a:t>Let users categorize searches (Electronics, Documents, Accessories, etc.) to quickly find relevant listings.</a:t>
            </a:r>
            <a:endParaRPr lang="en-US" sz="1150" dirty="0"/>
          </a:p>
        </p:txBody>
      </p:sp>
      <p:sp>
        <p:nvSpPr>
          <p:cNvPr id="22" name="Text 17"/>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23" name="Text 1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System Architecture</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Three-tier structure: browser front end, PHP API layer, MySQL storage</a:t>
            </a:r>
            <a:endParaRPr lang="en-US" sz="1400" dirty="0"/>
          </a:p>
        </p:txBody>
      </p:sp>
      <p:sp>
        <p:nvSpPr>
          <p:cNvPr id="4" name="Shape 2"/>
          <p:cNvSpPr/>
          <p:nvPr/>
        </p:nvSpPr>
        <p:spPr>
          <a:xfrm>
            <a:off x="640080" y="2286000"/>
            <a:ext cx="3200400" cy="2148840"/>
          </a:xfrm>
          <a:prstGeom prst="roundRect">
            <a:avLst>
              <a:gd name="adj" fmla="val 3830"/>
            </a:avLst>
          </a:prstGeom>
          <a:solidFill>
            <a:srgbClr val="13131A"/>
          </a:solidFill>
          <a:ln w="12700">
            <a:solidFill>
              <a:srgbClr val="2A2A38"/>
            </a:solidFill>
            <a:prstDash val="solid"/>
          </a:ln>
        </p:spPr>
      </p:sp>
      <p:sp>
        <p:nvSpPr>
          <p:cNvPr id="5" name="Shape 3"/>
          <p:cNvSpPr/>
          <p:nvPr/>
        </p:nvSpPr>
        <p:spPr>
          <a:xfrm>
            <a:off x="841248" y="2487168"/>
            <a:ext cx="457200" cy="457200"/>
          </a:xfrm>
          <a:prstGeom prst="ellipse">
            <a:avLst/>
          </a:prstGeom>
          <a:solidFill>
            <a:srgbClr val="1C1C28"/>
          </a:solidFill>
          <a:ln w="12700">
            <a:solidFill>
              <a:srgbClr val="F0C04A"/>
            </a:solidFill>
            <a:prstDash val="solid"/>
          </a:ln>
        </p:spPr>
      </p:sp>
      <p:pic>
        <p:nvPicPr>
          <p:cNvPr id="6" name="Image 0" descr="/home/claude/pptx/icons/code.png"/>
          <p:cNvPicPr>
            <a:picLocks noChangeAspect="1"/>
          </p:cNvPicPr>
          <p:nvPr/>
        </p:nvPicPr>
        <p:blipFill>
          <a:blip r:embed="rId3"/>
          <a:stretch>
            <a:fillRect/>
          </a:stretch>
        </p:blipFill>
        <p:spPr>
          <a:xfrm>
            <a:off x="950976" y="2596896"/>
            <a:ext cx="237744" cy="237744"/>
          </a:xfrm>
          <a:prstGeom prst="rect">
            <a:avLst/>
          </a:prstGeom>
        </p:spPr>
      </p:pic>
      <p:sp>
        <p:nvSpPr>
          <p:cNvPr id="7" name="Text 4"/>
          <p:cNvSpPr/>
          <p:nvPr/>
        </p:nvSpPr>
        <p:spPr>
          <a:xfrm>
            <a:off x="1417320" y="2468880"/>
            <a:ext cx="2286000" cy="320040"/>
          </a:xfrm>
          <a:prstGeom prst="rect">
            <a:avLst/>
          </a:prstGeom>
          <a:noFill/>
          <a:ln/>
        </p:spPr>
        <p:txBody>
          <a:bodyPr wrap="square" rtlCol="0" anchor="ctr"/>
          <a:lstStyle/>
          <a:p>
            <a:pPr marL="0" indent="0">
              <a:buNone/>
            </a:pPr>
            <a:r>
              <a:rPr lang="en-US" sz="1500" b="1" dirty="0">
                <a:solidFill>
                  <a:srgbClr val="F0EFF5"/>
                </a:solidFill>
                <a:latin typeface="Calibri" pitchFamily="34" charset="0"/>
                <a:ea typeface="Calibri" pitchFamily="34" charset="-122"/>
                <a:cs typeface="Calibri" pitchFamily="34" charset="-120"/>
              </a:rPr>
              <a:t>Client</a:t>
            </a:r>
            <a:endParaRPr lang="en-US" sz="1500" dirty="0"/>
          </a:p>
        </p:txBody>
      </p:sp>
      <p:sp>
        <p:nvSpPr>
          <p:cNvPr id="8" name="Text 5"/>
          <p:cNvSpPr/>
          <p:nvPr/>
        </p:nvSpPr>
        <p:spPr>
          <a:xfrm>
            <a:off x="1417320" y="2761488"/>
            <a:ext cx="2286000" cy="274320"/>
          </a:xfrm>
          <a:prstGeom prst="rect">
            <a:avLst/>
          </a:prstGeom>
          <a:noFill/>
          <a:ln/>
        </p:spPr>
        <p:txBody>
          <a:bodyPr wrap="square" rtlCol="0" anchor="ctr"/>
          <a:lstStyle/>
          <a:p>
            <a:pPr marL="0" indent="0">
              <a:buNone/>
            </a:pPr>
            <a:r>
              <a:rPr lang="en-US" sz="1050" i="1" dirty="0">
                <a:solidFill>
                  <a:srgbClr val="F0C04A"/>
                </a:solidFill>
                <a:latin typeface="Calibri" pitchFamily="34" charset="0"/>
                <a:ea typeface="Calibri" pitchFamily="34" charset="-122"/>
                <a:cs typeface="Calibri" pitchFamily="34" charset="-120"/>
              </a:rPr>
              <a:t>index.html</a:t>
            </a:r>
            <a:endParaRPr lang="en-US" sz="1050" dirty="0"/>
          </a:p>
        </p:txBody>
      </p:sp>
      <p:sp>
        <p:nvSpPr>
          <p:cNvPr id="9" name="Text 6"/>
          <p:cNvSpPr/>
          <p:nvPr/>
        </p:nvSpPr>
        <p:spPr>
          <a:xfrm>
            <a:off x="914400" y="3182112"/>
            <a:ext cx="2651760" cy="292608"/>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  Vanilla JS + AJAX</a:t>
            </a:r>
            <a:endParaRPr lang="en-US" sz="1150" dirty="0"/>
          </a:p>
        </p:txBody>
      </p:sp>
      <p:sp>
        <p:nvSpPr>
          <p:cNvPr id="10" name="Text 7"/>
          <p:cNvSpPr/>
          <p:nvPr/>
        </p:nvSpPr>
        <p:spPr>
          <a:xfrm>
            <a:off x="914400" y="3483864"/>
            <a:ext cx="2651760" cy="292608"/>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  Bootstrap-style UI</a:t>
            </a:r>
            <a:endParaRPr lang="en-US" sz="1150" dirty="0"/>
          </a:p>
        </p:txBody>
      </p:sp>
      <p:sp>
        <p:nvSpPr>
          <p:cNvPr id="11" name="Text 8"/>
          <p:cNvSpPr/>
          <p:nvPr/>
        </p:nvSpPr>
        <p:spPr>
          <a:xfrm>
            <a:off x="914400" y="3785616"/>
            <a:ext cx="2651760" cy="292608"/>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  Session-aware views</a:t>
            </a:r>
            <a:endParaRPr lang="en-US" sz="1150" dirty="0"/>
          </a:p>
        </p:txBody>
      </p:sp>
      <p:pic>
        <p:nvPicPr>
          <p:cNvPr id="12" name="Image 1" descr="/home/claude/pptx/icons/arrow.png"/>
          <p:cNvPicPr>
            <a:picLocks noChangeAspect="1"/>
          </p:cNvPicPr>
          <p:nvPr/>
        </p:nvPicPr>
        <p:blipFill>
          <a:blip r:embed="rId4"/>
          <a:stretch>
            <a:fillRect/>
          </a:stretch>
        </p:blipFill>
        <p:spPr>
          <a:xfrm>
            <a:off x="3886200" y="3223260"/>
            <a:ext cx="274320" cy="274320"/>
          </a:xfrm>
          <a:prstGeom prst="rect">
            <a:avLst/>
          </a:prstGeom>
        </p:spPr>
      </p:pic>
      <p:sp>
        <p:nvSpPr>
          <p:cNvPr id="13" name="Shape 9"/>
          <p:cNvSpPr/>
          <p:nvPr/>
        </p:nvSpPr>
        <p:spPr>
          <a:xfrm>
            <a:off x="4480560" y="2286000"/>
            <a:ext cx="3200400" cy="2148840"/>
          </a:xfrm>
          <a:prstGeom prst="roundRect">
            <a:avLst>
              <a:gd name="adj" fmla="val 3830"/>
            </a:avLst>
          </a:prstGeom>
          <a:solidFill>
            <a:srgbClr val="13131A"/>
          </a:solidFill>
          <a:ln w="12700">
            <a:solidFill>
              <a:srgbClr val="2A2A38"/>
            </a:solidFill>
            <a:prstDash val="solid"/>
          </a:ln>
        </p:spPr>
      </p:sp>
      <p:sp>
        <p:nvSpPr>
          <p:cNvPr id="14" name="Shape 10"/>
          <p:cNvSpPr/>
          <p:nvPr/>
        </p:nvSpPr>
        <p:spPr>
          <a:xfrm>
            <a:off x="4681728" y="2487168"/>
            <a:ext cx="457200" cy="457200"/>
          </a:xfrm>
          <a:prstGeom prst="ellipse">
            <a:avLst/>
          </a:prstGeom>
          <a:solidFill>
            <a:srgbClr val="1C1C28"/>
          </a:solidFill>
          <a:ln w="12700">
            <a:solidFill>
              <a:srgbClr val="F0C04A"/>
            </a:solidFill>
            <a:prstDash val="solid"/>
          </a:ln>
        </p:spPr>
      </p:sp>
      <p:pic>
        <p:nvPicPr>
          <p:cNvPr id="15" name="Image 2" descr="/home/claude/pptx/icons/server.png"/>
          <p:cNvPicPr>
            <a:picLocks noChangeAspect="1"/>
          </p:cNvPicPr>
          <p:nvPr/>
        </p:nvPicPr>
        <p:blipFill>
          <a:blip r:embed="rId5"/>
          <a:stretch>
            <a:fillRect/>
          </a:stretch>
        </p:blipFill>
        <p:spPr>
          <a:xfrm>
            <a:off x="4791456" y="2596896"/>
            <a:ext cx="237744" cy="237744"/>
          </a:xfrm>
          <a:prstGeom prst="rect">
            <a:avLst/>
          </a:prstGeom>
        </p:spPr>
      </p:pic>
      <p:sp>
        <p:nvSpPr>
          <p:cNvPr id="16" name="Text 11"/>
          <p:cNvSpPr/>
          <p:nvPr/>
        </p:nvSpPr>
        <p:spPr>
          <a:xfrm>
            <a:off x="5257800" y="2468880"/>
            <a:ext cx="2286000" cy="320040"/>
          </a:xfrm>
          <a:prstGeom prst="rect">
            <a:avLst/>
          </a:prstGeom>
          <a:noFill/>
          <a:ln/>
        </p:spPr>
        <p:txBody>
          <a:bodyPr wrap="square" rtlCol="0" anchor="ctr"/>
          <a:lstStyle/>
          <a:p>
            <a:pPr marL="0" indent="0">
              <a:buNone/>
            </a:pPr>
            <a:r>
              <a:rPr lang="en-US" sz="1500" b="1" dirty="0">
                <a:solidFill>
                  <a:srgbClr val="F0EFF5"/>
                </a:solidFill>
                <a:latin typeface="Calibri" pitchFamily="34" charset="0"/>
                <a:ea typeface="Calibri" pitchFamily="34" charset="-122"/>
                <a:cs typeface="Calibri" pitchFamily="34" charset="-120"/>
              </a:rPr>
              <a:t>API Layer</a:t>
            </a:r>
            <a:endParaRPr lang="en-US" sz="1500" dirty="0"/>
          </a:p>
        </p:txBody>
      </p:sp>
      <p:sp>
        <p:nvSpPr>
          <p:cNvPr id="17" name="Text 12"/>
          <p:cNvSpPr/>
          <p:nvPr/>
        </p:nvSpPr>
        <p:spPr>
          <a:xfrm>
            <a:off x="5257800" y="2761488"/>
            <a:ext cx="2286000" cy="274320"/>
          </a:xfrm>
          <a:prstGeom prst="rect">
            <a:avLst/>
          </a:prstGeom>
          <a:noFill/>
          <a:ln/>
        </p:spPr>
        <p:txBody>
          <a:bodyPr wrap="square" rtlCol="0" anchor="ctr"/>
          <a:lstStyle/>
          <a:p>
            <a:pPr marL="0" indent="0">
              <a:buNone/>
            </a:pPr>
            <a:r>
              <a:rPr lang="en-US" sz="1050" i="1" dirty="0">
                <a:solidFill>
                  <a:srgbClr val="F0C04A"/>
                </a:solidFill>
                <a:latin typeface="Calibri" pitchFamily="34" charset="0"/>
                <a:ea typeface="Calibri" pitchFamily="34" charset="-122"/>
                <a:cs typeface="Calibri" pitchFamily="34" charset="-120"/>
              </a:rPr>
              <a:t>PHP endpoints</a:t>
            </a:r>
            <a:endParaRPr lang="en-US" sz="1050" dirty="0"/>
          </a:p>
        </p:txBody>
      </p:sp>
      <p:sp>
        <p:nvSpPr>
          <p:cNvPr id="18" name="Text 13"/>
          <p:cNvSpPr/>
          <p:nvPr/>
        </p:nvSpPr>
        <p:spPr>
          <a:xfrm>
            <a:off x="4754880" y="3182112"/>
            <a:ext cx="2651760" cy="292608"/>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  auth.php</a:t>
            </a:r>
            <a:endParaRPr lang="en-US" sz="1150" dirty="0"/>
          </a:p>
        </p:txBody>
      </p:sp>
      <p:sp>
        <p:nvSpPr>
          <p:cNvPr id="19" name="Text 14"/>
          <p:cNvSpPr/>
          <p:nvPr/>
        </p:nvSpPr>
        <p:spPr>
          <a:xfrm>
            <a:off x="4754880" y="3483864"/>
            <a:ext cx="2651760" cy="292608"/>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  items.php</a:t>
            </a:r>
            <a:endParaRPr lang="en-US" sz="1150" dirty="0"/>
          </a:p>
        </p:txBody>
      </p:sp>
      <p:sp>
        <p:nvSpPr>
          <p:cNvPr id="20" name="Text 15"/>
          <p:cNvSpPr/>
          <p:nvPr/>
        </p:nvSpPr>
        <p:spPr>
          <a:xfrm>
            <a:off x="4754880" y="3785616"/>
            <a:ext cx="2651760" cy="292608"/>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  messages.php</a:t>
            </a:r>
            <a:endParaRPr lang="en-US" sz="1150" dirty="0"/>
          </a:p>
        </p:txBody>
      </p:sp>
      <p:sp>
        <p:nvSpPr>
          <p:cNvPr id="21" name="Text 16"/>
          <p:cNvSpPr/>
          <p:nvPr/>
        </p:nvSpPr>
        <p:spPr>
          <a:xfrm>
            <a:off x="4754880" y="4087368"/>
            <a:ext cx="2651760" cy="292608"/>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  admin.php</a:t>
            </a:r>
            <a:endParaRPr lang="en-US" sz="1150" dirty="0"/>
          </a:p>
        </p:txBody>
      </p:sp>
      <p:pic>
        <p:nvPicPr>
          <p:cNvPr id="22" name="Image 3" descr="/home/claude/pptx/icons/arrow.png"/>
          <p:cNvPicPr>
            <a:picLocks noChangeAspect="1"/>
          </p:cNvPicPr>
          <p:nvPr/>
        </p:nvPicPr>
        <p:blipFill>
          <a:blip r:embed="rId4"/>
          <a:stretch>
            <a:fillRect/>
          </a:stretch>
        </p:blipFill>
        <p:spPr>
          <a:xfrm>
            <a:off x="7726680" y="3223260"/>
            <a:ext cx="274320" cy="274320"/>
          </a:xfrm>
          <a:prstGeom prst="rect">
            <a:avLst/>
          </a:prstGeom>
        </p:spPr>
      </p:pic>
      <p:sp>
        <p:nvSpPr>
          <p:cNvPr id="23" name="Shape 17"/>
          <p:cNvSpPr/>
          <p:nvPr/>
        </p:nvSpPr>
        <p:spPr>
          <a:xfrm>
            <a:off x="8321040" y="2286000"/>
            <a:ext cx="3200400" cy="2148840"/>
          </a:xfrm>
          <a:prstGeom prst="roundRect">
            <a:avLst>
              <a:gd name="adj" fmla="val 3830"/>
            </a:avLst>
          </a:prstGeom>
          <a:solidFill>
            <a:srgbClr val="13131A"/>
          </a:solidFill>
          <a:ln w="12700">
            <a:solidFill>
              <a:srgbClr val="2A2A38"/>
            </a:solidFill>
            <a:prstDash val="solid"/>
          </a:ln>
        </p:spPr>
      </p:sp>
      <p:sp>
        <p:nvSpPr>
          <p:cNvPr id="24" name="Shape 18"/>
          <p:cNvSpPr/>
          <p:nvPr/>
        </p:nvSpPr>
        <p:spPr>
          <a:xfrm>
            <a:off x="8522208" y="2487168"/>
            <a:ext cx="457200" cy="457200"/>
          </a:xfrm>
          <a:prstGeom prst="ellipse">
            <a:avLst/>
          </a:prstGeom>
          <a:solidFill>
            <a:srgbClr val="1C1C28"/>
          </a:solidFill>
          <a:ln w="12700">
            <a:solidFill>
              <a:srgbClr val="F0C04A"/>
            </a:solidFill>
            <a:prstDash val="solid"/>
          </a:ln>
        </p:spPr>
      </p:sp>
      <p:pic>
        <p:nvPicPr>
          <p:cNvPr id="25" name="Image 4" descr="/home/claude/pptx/icons/database.png"/>
          <p:cNvPicPr>
            <a:picLocks noChangeAspect="1"/>
          </p:cNvPicPr>
          <p:nvPr/>
        </p:nvPicPr>
        <p:blipFill>
          <a:blip r:embed="rId6"/>
          <a:stretch>
            <a:fillRect/>
          </a:stretch>
        </p:blipFill>
        <p:spPr>
          <a:xfrm>
            <a:off x="8631936" y="2596896"/>
            <a:ext cx="237744" cy="237744"/>
          </a:xfrm>
          <a:prstGeom prst="rect">
            <a:avLst/>
          </a:prstGeom>
        </p:spPr>
      </p:pic>
      <p:sp>
        <p:nvSpPr>
          <p:cNvPr id="26" name="Text 19"/>
          <p:cNvSpPr/>
          <p:nvPr/>
        </p:nvSpPr>
        <p:spPr>
          <a:xfrm>
            <a:off x="9098280" y="2468880"/>
            <a:ext cx="2286000" cy="320040"/>
          </a:xfrm>
          <a:prstGeom prst="rect">
            <a:avLst/>
          </a:prstGeom>
          <a:noFill/>
          <a:ln/>
        </p:spPr>
        <p:txBody>
          <a:bodyPr wrap="square" rtlCol="0" anchor="ctr"/>
          <a:lstStyle/>
          <a:p>
            <a:pPr marL="0" indent="0">
              <a:buNone/>
            </a:pPr>
            <a:r>
              <a:rPr lang="en-US" sz="1500" b="1" dirty="0">
                <a:solidFill>
                  <a:srgbClr val="F0EFF5"/>
                </a:solidFill>
                <a:latin typeface="Calibri" pitchFamily="34" charset="0"/>
                <a:ea typeface="Calibri" pitchFamily="34" charset="-122"/>
                <a:cs typeface="Calibri" pitchFamily="34" charset="-120"/>
              </a:rPr>
              <a:t>Database</a:t>
            </a:r>
            <a:endParaRPr lang="en-US" sz="1500" dirty="0"/>
          </a:p>
        </p:txBody>
      </p:sp>
      <p:sp>
        <p:nvSpPr>
          <p:cNvPr id="27" name="Text 20"/>
          <p:cNvSpPr/>
          <p:nvPr/>
        </p:nvSpPr>
        <p:spPr>
          <a:xfrm>
            <a:off x="9098280" y="2761488"/>
            <a:ext cx="2286000" cy="274320"/>
          </a:xfrm>
          <a:prstGeom prst="rect">
            <a:avLst/>
          </a:prstGeom>
          <a:noFill/>
          <a:ln/>
        </p:spPr>
        <p:txBody>
          <a:bodyPr wrap="square" rtlCol="0" anchor="ctr"/>
          <a:lstStyle/>
          <a:p>
            <a:pPr marL="0" indent="0">
              <a:buNone/>
            </a:pPr>
            <a:r>
              <a:rPr lang="en-US" sz="1050" i="1" dirty="0">
                <a:solidFill>
                  <a:srgbClr val="F0C04A"/>
                </a:solidFill>
                <a:latin typeface="Calibri" pitchFamily="34" charset="0"/>
                <a:ea typeface="Calibri" pitchFamily="34" charset="-122"/>
                <a:cs typeface="Calibri" pitchFamily="34" charset="-120"/>
              </a:rPr>
              <a:t>MySQL</a:t>
            </a:r>
            <a:endParaRPr lang="en-US" sz="1050" dirty="0"/>
          </a:p>
        </p:txBody>
      </p:sp>
      <p:sp>
        <p:nvSpPr>
          <p:cNvPr id="28" name="Text 21"/>
          <p:cNvSpPr/>
          <p:nvPr/>
        </p:nvSpPr>
        <p:spPr>
          <a:xfrm>
            <a:off x="8595360" y="3182112"/>
            <a:ext cx="2651760" cy="292608"/>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  users</a:t>
            </a:r>
            <a:endParaRPr lang="en-US" sz="1150" dirty="0"/>
          </a:p>
        </p:txBody>
      </p:sp>
      <p:sp>
        <p:nvSpPr>
          <p:cNvPr id="29" name="Text 22"/>
          <p:cNvSpPr/>
          <p:nvPr/>
        </p:nvSpPr>
        <p:spPr>
          <a:xfrm>
            <a:off x="8595360" y="3483864"/>
            <a:ext cx="2651760" cy="292608"/>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  items</a:t>
            </a:r>
            <a:endParaRPr lang="en-US" sz="1150" dirty="0"/>
          </a:p>
        </p:txBody>
      </p:sp>
      <p:sp>
        <p:nvSpPr>
          <p:cNvPr id="30" name="Text 23"/>
          <p:cNvSpPr/>
          <p:nvPr/>
        </p:nvSpPr>
        <p:spPr>
          <a:xfrm>
            <a:off x="8595360" y="3785616"/>
            <a:ext cx="2651760" cy="292608"/>
          </a:xfrm>
          <a:prstGeom prst="rect">
            <a:avLst/>
          </a:prstGeom>
          <a:noFill/>
          <a:ln/>
        </p:spPr>
        <p:txBody>
          <a:bodyPr wrap="square" rtlCol="0" anchor="ctr"/>
          <a:lstStyle/>
          <a:p>
            <a:pPr marL="0" indent="0">
              <a:buNone/>
            </a:pPr>
            <a:r>
              <a:rPr lang="en-US" sz="1150" dirty="0">
                <a:solidFill>
                  <a:srgbClr val="9A9AB5"/>
                </a:solidFill>
                <a:latin typeface="Calibri" pitchFamily="34" charset="0"/>
                <a:ea typeface="Calibri" pitchFamily="34" charset="-122"/>
                <a:cs typeface="Calibri" pitchFamily="34" charset="-120"/>
              </a:rPr>
              <a:t>•  messages</a:t>
            </a:r>
            <a:endParaRPr lang="en-US" sz="1150" dirty="0"/>
          </a:p>
        </p:txBody>
      </p:sp>
      <p:sp>
        <p:nvSpPr>
          <p:cNvPr id="31" name="Text 24"/>
          <p:cNvSpPr/>
          <p:nvPr/>
        </p:nvSpPr>
        <p:spPr>
          <a:xfrm>
            <a:off x="640080" y="4709160"/>
            <a:ext cx="10881360" cy="548640"/>
          </a:xfrm>
          <a:prstGeom prst="rect">
            <a:avLst/>
          </a:prstGeom>
          <a:noFill/>
          <a:ln/>
        </p:spPr>
        <p:txBody>
          <a:bodyPr wrap="square" rtlCol="0" anchor="ctr"/>
          <a:lstStyle/>
          <a:p>
            <a:pPr marL="0" indent="0">
              <a:buNone/>
            </a:pPr>
            <a:endParaRPr lang="en-US" sz="1250" dirty="0"/>
          </a:p>
        </p:txBody>
      </p:sp>
      <p:sp>
        <p:nvSpPr>
          <p:cNvPr id="32" name="Text 25"/>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33" name="Text 2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Database Schema</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Three related tables enforce referential integrity via foreign keys</a:t>
            </a:r>
            <a:endParaRPr lang="en-US" sz="1400" dirty="0"/>
          </a:p>
        </p:txBody>
      </p:sp>
      <p:sp>
        <p:nvSpPr>
          <p:cNvPr id="4" name="Shape 2"/>
          <p:cNvSpPr/>
          <p:nvPr/>
        </p:nvSpPr>
        <p:spPr>
          <a:xfrm>
            <a:off x="640080" y="1691640"/>
            <a:ext cx="3063240" cy="2459736"/>
          </a:xfrm>
          <a:prstGeom prst="roundRect">
            <a:avLst>
              <a:gd name="adj" fmla="val 2974"/>
            </a:avLst>
          </a:prstGeom>
          <a:solidFill>
            <a:srgbClr val="13131A"/>
          </a:solidFill>
          <a:ln w="15875">
            <a:solidFill>
              <a:srgbClr val="F0C04A"/>
            </a:solidFill>
            <a:prstDash val="solid"/>
          </a:ln>
        </p:spPr>
      </p:sp>
      <p:sp>
        <p:nvSpPr>
          <p:cNvPr id="5" name="Shape 3"/>
          <p:cNvSpPr/>
          <p:nvPr/>
        </p:nvSpPr>
        <p:spPr>
          <a:xfrm>
            <a:off x="640080" y="1691640"/>
            <a:ext cx="3063240" cy="457200"/>
          </a:xfrm>
          <a:prstGeom prst="roundRect">
            <a:avLst>
              <a:gd name="adj" fmla="val 16000"/>
            </a:avLst>
          </a:prstGeom>
          <a:solidFill>
            <a:srgbClr val="F0C04A"/>
          </a:solidFill>
          <a:ln/>
        </p:spPr>
      </p:sp>
      <p:sp>
        <p:nvSpPr>
          <p:cNvPr id="6" name="Shape 4"/>
          <p:cNvSpPr/>
          <p:nvPr/>
        </p:nvSpPr>
        <p:spPr>
          <a:xfrm>
            <a:off x="640080" y="2039112"/>
            <a:ext cx="3063240" cy="109728"/>
          </a:xfrm>
          <a:prstGeom prst="rect">
            <a:avLst/>
          </a:prstGeom>
          <a:solidFill>
            <a:srgbClr val="F0C04A"/>
          </a:solidFill>
          <a:ln/>
        </p:spPr>
      </p:sp>
      <p:sp>
        <p:nvSpPr>
          <p:cNvPr id="7" name="Text 5"/>
          <p:cNvSpPr/>
          <p:nvPr/>
        </p:nvSpPr>
        <p:spPr>
          <a:xfrm>
            <a:off x="640080" y="1691640"/>
            <a:ext cx="3063240" cy="457200"/>
          </a:xfrm>
          <a:prstGeom prst="rect">
            <a:avLst/>
          </a:prstGeom>
          <a:noFill/>
          <a:ln/>
        </p:spPr>
        <p:txBody>
          <a:bodyPr wrap="square" rtlCol="0" anchor="ctr"/>
          <a:lstStyle/>
          <a:p>
            <a:pPr marL="0" indent="0" algn="ctr">
              <a:buNone/>
            </a:pPr>
            <a:r>
              <a:rPr lang="en-US" sz="1500" b="1" dirty="0">
                <a:solidFill>
                  <a:srgbClr val="0A0A0F"/>
                </a:solidFill>
                <a:latin typeface="Calibri" pitchFamily="34" charset="0"/>
                <a:ea typeface="Calibri" pitchFamily="34" charset="-122"/>
                <a:cs typeface="Calibri" pitchFamily="34" charset="-120"/>
              </a:rPr>
              <a:t>users</a:t>
            </a:r>
            <a:endParaRPr lang="en-US" sz="1500" dirty="0"/>
          </a:p>
        </p:txBody>
      </p:sp>
      <p:sp>
        <p:nvSpPr>
          <p:cNvPr id="8" name="Text 6"/>
          <p:cNvSpPr/>
          <p:nvPr/>
        </p:nvSpPr>
        <p:spPr>
          <a:xfrm>
            <a:off x="868680" y="2240280"/>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id  PK</a:t>
            </a:r>
            <a:endParaRPr lang="en-US" sz="1100" dirty="0"/>
          </a:p>
        </p:txBody>
      </p:sp>
      <p:sp>
        <p:nvSpPr>
          <p:cNvPr id="9" name="Text 7"/>
          <p:cNvSpPr/>
          <p:nvPr/>
        </p:nvSpPr>
        <p:spPr>
          <a:xfrm>
            <a:off x="868680" y="2551176"/>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name</a:t>
            </a:r>
            <a:endParaRPr lang="en-US" sz="1100" dirty="0"/>
          </a:p>
        </p:txBody>
      </p:sp>
      <p:sp>
        <p:nvSpPr>
          <p:cNvPr id="10" name="Text 8"/>
          <p:cNvSpPr/>
          <p:nvPr/>
        </p:nvSpPr>
        <p:spPr>
          <a:xfrm>
            <a:off x="868680" y="2862072"/>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email  UNIQUE</a:t>
            </a:r>
            <a:endParaRPr lang="en-US" sz="1100" dirty="0"/>
          </a:p>
        </p:txBody>
      </p:sp>
      <p:sp>
        <p:nvSpPr>
          <p:cNvPr id="11" name="Text 9"/>
          <p:cNvSpPr/>
          <p:nvPr/>
        </p:nvSpPr>
        <p:spPr>
          <a:xfrm>
            <a:off x="868680" y="3172968"/>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password  </a:t>
            </a:r>
            <a:endParaRPr lang="en-US" sz="1100" dirty="0"/>
          </a:p>
        </p:txBody>
      </p:sp>
      <p:sp>
        <p:nvSpPr>
          <p:cNvPr id="12" name="Text 10"/>
          <p:cNvSpPr/>
          <p:nvPr/>
        </p:nvSpPr>
        <p:spPr>
          <a:xfrm>
            <a:off x="868680" y="3483864"/>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role  user / admin</a:t>
            </a:r>
            <a:endParaRPr lang="en-US" sz="1100" dirty="0"/>
          </a:p>
        </p:txBody>
      </p:sp>
      <p:sp>
        <p:nvSpPr>
          <p:cNvPr id="13" name="Text 11"/>
          <p:cNvSpPr/>
          <p:nvPr/>
        </p:nvSpPr>
        <p:spPr>
          <a:xfrm>
            <a:off x="868680" y="3794760"/>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created_at</a:t>
            </a:r>
            <a:endParaRPr lang="en-US" sz="1100" dirty="0"/>
          </a:p>
        </p:txBody>
      </p:sp>
      <p:sp>
        <p:nvSpPr>
          <p:cNvPr id="14" name="Shape 12"/>
          <p:cNvSpPr/>
          <p:nvPr/>
        </p:nvSpPr>
        <p:spPr>
          <a:xfrm>
            <a:off x="4526280" y="1691640"/>
            <a:ext cx="3063240" cy="2459736"/>
          </a:xfrm>
          <a:prstGeom prst="roundRect">
            <a:avLst>
              <a:gd name="adj" fmla="val 2974"/>
            </a:avLst>
          </a:prstGeom>
          <a:solidFill>
            <a:srgbClr val="13131A"/>
          </a:solidFill>
          <a:ln w="15875">
            <a:solidFill>
              <a:srgbClr val="FF6B6B"/>
            </a:solidFill>
            <a:prstDash val="solid"/>
          </a:ln>
        </p:spPr>
      </p:sp>
      <p:sp>
        <p:nvSpPr>
          <p:cNvPr id="15" name="Shape 13"/>
          <p:cNvSpPr/>
          <p:nvPr/>
        </p:nvSpPr>
        <p:spPr>
          <a:xfrm>
            <a:off x="4526280" y="1691640"/>
            <a:ext cx="3063240" cy="457200"/>
          </a:xfrm>
          <a:prstGeom prst="roundRect">
            <a:avLst>
              <a:gd name="adj" fmla="val 16000"/>
            </a:avLst>
          </a:prstGeom>
          <a:solidFill>
            <a:srgbClr val="FF6B6B"/>
          </a:solidFill>
          <a:ln/>
        </p:spPr>
      </p:sp>
      <p:sp>
        <p:nvSpPr>
          <p:cNvPr id="16" name="Shape 14"/>
          <p:cNvSpPr/>
          <p:nvPr/>
        </p:nvSpPr>
        <p:spPr>
          <a:xfrm>
            <a:off x="4526280" y="2039112"/>
            <a:ext cx="3063240" cy="109728"/>
          </a:xfrm>
          <a:prstGeom prst="rect">
            <a:avLst/>
          </a:prstGeom>
          <a:solidFill>
            <a:srgbClr val="FF6B6B"/>
          </a:solidFill>
          <a:ln/>
        </p:spPr>
      </p:sp>
      <p:sp>
        <p:nvSpPr>
          <p:cNvPr id="17" name="Text 15"/>
          <p:cNvSpPr/>
          <p:nvPr/>
        </p:nvSpPr>
        <p:spPr>
          <a:xfrm>
            <a:off x="4526280" y="1691640"/>
            <a:ext cx="3063240" cy="457200"/>
          </a:xfrm>
          <a:prstGeom prst="rect">
            <a:avLst/>
          </a:prstGeom>
          <a:noFill/>
          <a:ln/>
        </p:spPr>
        <p:txBody>
          <a:bodyPr wrap="square" rtlCol="0" anchor="ctr"/>
          <a:lstStyle/>
          <a:p>
            <a:pPr marL="0" indent="0" algn="ctr">
              <a:buNone/>
            </a:pPr>
            <a:r>
              <a:rPr lang="en-US" sz="1500" b="1" dirty="0">
                <a:solidFill>
                  <a:srgbClr val="0A0A0F"/>
                </a:solidFill>
                <a:latin typeface="Calibri" pitchFamily="34" charset="0"/>
                <a:ea typeface="Calibri" pitchFamily="34" charset="-122"/>
                <a:cs typeface="Calibri" pitchFamily="34" charset="-120"/>
              </a:rPr>
              <a:t>items</a:t>
            </a:r>
            <a:endParaRPr lang="en-US" sz="1500" dirty="0"/>
          </a:p>
        </p:txBody>
      </p:sp>
      <p:sp>
        <p:nvSpPr>
          <p:cNvPr id="18" name="Text 16"/>
          <p:cNvSpPr/>
          <p:nvPr/>
        </p:nvSpPr>
        <p:spPr>
          <a:xfrm>
            <a:off x="4754880" y="2240280"/>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id  PK</a:t>
            </a:r>
            <a:endParaRPr lang="en-US" sz="1100" dirty="0"/>
          </a:p>
        </p:txBody>
      </p:sp>
      <p:sp>
        <p:nvSpPr>
          <p:cNvPr id="19" name="Text 17"/>
          <p:cNvSpPr/>
          <p:nvPr/>
        </p:nvSpPr>
        <p:spPr>
          <a:xfrm>
            <a:off x="4754880" y="2551176"/>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user_id  FK → users</a:t>
            </a:r>
            <a:endParaRPr lang="en-US" sz="1100" dirty="0"/>
          </a:p>
        </p:txBody>
      </p:sp>
      <p:sp>
        <p:nvSpPr>
          <p:cNvPr id="20" name="Text 18"/>
          <p:cNvSpPr/>
          <p:nvPr/>
        </p:nvSpPr>
        <p:spPr>
          <a:xfrm>
            <a:off x="4754880" y="2862072"/>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type  lost / found</a:t>
            </a:r>
            <a:endParaRPr lang="en-US" sz="1100" dirty="0"/>
          </a:p>
        </p:txBody>
      </p:sp>
      <p:sp>
        <p:nvSpPr>
          <p:cNvPr id="21" name="Text 19"/>
          <p:cNvSpPr/>
          <p:nvPr/>
        </p:nvSpPr>
        <p:spPr>
          <a:xfrm>
            <a:off x="4754880" y="3172968"/>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title, category</a:t>
            </a:r>
            <a:endParaRPr lang="en-US" sz="1100" dirty="0"/>
          </a:p>
        </p:txBody>
      </p:sp>
      <p:sp>
        <p:nvSpPr>
          <p:cNvPr id="22" name="Text 20"/>
          <p:cNvSpPr/>
          <p:nvPr/>
        </p:nvSpPr>
        <p:spPr>
          <a:xfrm>
            <a:off x="4754880" y="3483864"/>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description, location</a:t>
            </a:r>
            <a:endParaRPr lang="en-US" sz="1100" dirty="0"/>
          </a:p>
        </p:txBody>
      </p:sp>
      <p:sp>
        <p:nvSpPr>
          <p:cNvPr id="23" name="Text 21"/>
          <p:cNvSpPr/>
          <p:nvPr/>
        </p:nvSpPr>
        <p:spPr>
          <a:xfrm>
            <a:off x="4754880" y="3794760"/>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status  open/resolved/pending</a:t>
            </a:r>
            <a:endParaRPr lang="en-US" sz="1100" dirty="0"/>
          </a:p>
        </p:txBody>
      </p:sp>
      <p:sp>
        <p:nvSpPr>
          <p:cNvPr id="24" name="Shape 22"/>
          <p:cNvSpPr/>
          <p:nvPr/>
        </p:nvSpPr>
        <p:spPr>
          <a:xfrm>
            <a:off x="8412480" y="1691640"/>
            <a:ext cx="3063240" cy="2459736"/>
          </a:xfrm>
          <a:prstGeom prst="roundRect">
            <a:avLst>
              <a:gd name="adj" fmla="val 2974"/>
            </a:avLst>
          </a:prstGeom>
          <a:solidFill>
            <a:srgbClr val="13131A"/>
          </a:solidFill>
          <a:ln w="15875">
            <a:solidFill>
              <a:srgbClr val="4ADE80"/>
            </a:solidFill>
            <a:prstDash val="solid"/>
          </a:ln>
        </p:spPr>
      </p:sp>
      <p:sp>
        <p:nvSpPr>
          <p:cNvPr id="25" name="Shape 23"/>
          <p:cNvSpPr/>
          <p:nvPr/>
        </p:nvSpPr>
        <p:spPr>
          <a:xfrm>
            <a:off x="8412480" y="1691640"/>
            <a:ext cx="3063240" cy="457200"/>
          </a:xfrm>
          <a:prstGeom prst="roundRect">
            <a:avLst>
              <a:gd name="adj" fmla="val 16000"/>
            </a:avLst>
          </a:prstGeom>
          <a:solidFill>
            <a:srgbClr val="4ADE80"/>
          </a:solidFill>
          <a:ln/>
        </p:spPr>
      </p:sp>
      <p:sp>
        <p:nvSpPr>
          <p:cNvPr id="26" name="Shape 24"/>
          <p:cNvSpPr/>
          <p:nvPr/>
        </p:nvSpPr>
        <p:spPr>
          <a:xfrm>
            <a:off x="8412480" y="2039112"/>
            <a:ext cx="3063240" cy="109728"/>
          </a:xfrm>
          <a:prstGeom prst="rect">
            <a:avLst/>
          </a:prstGeom>
          <a:solidFill>
            <a:srgbClr val="4ADE80"/>
          </a:solidFill>
          <a:ln/>
        </p:spPr>
      </p:sp>
      <p:sp>
        <p:nvSpPr>
          <p:cNvPr id="27" name="Text 25"/>
          <p:cNvSpPr/>
          <p:nvPr/>
        </p:nvSpPr>
        <p:spPr>
          <a:xfrm>
            <a:off x="8412480" y="1691640"/>
            <a:ext cx="3063240" cy="457200"/>
          </a:xfrm>
          <a:prstGeom prst="rect">
            <a:avLst/>
          </a:prstGeom>
          <a:noFill/>
          <a:ln/>
        </p:spPr>
        <p:txBody>
          <a:bodyPr wrap="square" rtlCol="0" anchor="ctr"/>
          <a:lstStyle/>
          <a:p>
            <a:pPr marL="0" indent="0" algn="ctr">
              <a:buNone/>
            </a:pPr>
            <a:r>
              <a:rPr lang="en-US" sz="1500" b="1" dirty="0">
                <a:solidFill>
                  <a:srgbClr val="0A0A0F"/>
                </a:solidFill>
                <a:latin typeface="Calibri" pitchFamily="34" charset="0"/>
                <a:ea typeface="Calibri" pitchFamily="34" charset="-122"/>
                <a:cs typeface="Calibri" pitchFamily="34" charset="-120"/>
              </a:rPr>
              <a:t>messages</a:t>
            </a:r>
            <a:endParaRPr lang="en-US" sz="1500" dirty="0"/>
          </a:p>
        </p:txBody>
      </p:sp>
      <p:sp>
        <p:nvSpPr>
          <p:cNvPr id="28" name="Text 26"/>
          <p:cNvSpPr/>
          <p:nvPr/>
        </p:nvSpPr>
        <p:spPr>
          <a:xfrm>
            <a:off x="8641080" y="2240280"/>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id  PK</a:t>
            </a:r>
            <a:endParaRPr lang="en-US" sz="1100" dirty="0"/>
          </a:p>
        </p:txBody>
      </p:sp>
      <p:sp>
        <p:nvSpPr>
          <p:cNvPr id="29" name="Text 27"/>
          <p:cNvSpPr/>
          <p:nvPr/>
        </p:nvSpPr>
        <p:spPr>
          <a:xfrm>
            <a:off x="8641080" y="2551176"/>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item_id  FK → items</a:t>
            </a:r>
            <a:endParaRPr lang="en-US" sz="1100" dirty="0"/>
          </a:p>
        </p:txBody>
      </p:sp>
      <p:sp>
        <p:nvSpPr>
          <p:cNvPr id="30" name="Text 28"/>
          <p:cNvSpPr/>
          <p:nvPr/>
        </p:nvSpPr>
        <p:spPr>
          <a:xfrm>
            <a:off x="8641080" y="2862072"/>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sender_id  FK → users</a:t>
            </a:r>
            <a:endParaRPr lang="en-US" sz="1100" dirty="0"/>
          </a:p>
        </p:txBody>
      </p:sp>
      <p:sp>
        <p:nvSpPr>
          <p:cNvPr id="31" name="Text 29"/>
          <p:cNvSpPr/>
          <p:nvPr/>
        </p:nvSpPr>
        <p:spPr>
          <a:xfrm>
            <a:off x="8641080" y="3172968"/>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receiver_id  FK → users</a:t>
            </a:r>
            <a:endParaRPr lang="en-US" sz="1100" dirty="0"/>
          </a:p>
        </p:txBody>
      </p:sp>
      <p:sp>
        <p:nvSpPr>
          <p:cNvPr id="32" name="Text 30"/>
          <p:cNvSpPr/>
          <p:nvPr/>
        </p:nvSpPr>
        <p:spPr>
          <a:xfrm>
            <a:off x="8641080" y="3483864"/>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message</a:t>
            </a:r>
            <a:endParaRPr lang="en-US" sz="1100" dirty="0"/>
          </a:p>
        </p:txBody>
      </p:sp>
      <p:sp>
        <p:nvSpPr>
          <p:cNvPr id="33" name="Text 31"/>
          <p:cNvSpPr/>
          <p:nvPr/>
        </p:nvSpPr>
        <p:spPr>
          <a:xfrm>
            <a:off x="8641080" y="3794760"/>
            <a:ext cx="2606040" cy="310896"/>
          </a:xfrm>
          <a:prstGeom prst="rect">
            <a:avLst/>
          </a:prstGeom>
          <a:noFill/>
          <a:ln/>
        </p:spPr>
        <p:txBody>
          <a:bodyPr wrap="square" rtlCol="0" anchor="ctr"/>
          <a:lstStyle/>
          <a:p>
            <a:pPr marL="0" indent="0">
              <a:buNone/>
            </a:pPr>
            <a:r>
              <a:rPr lang="en-US" sz="1100" dirty="0">
                <a:solidFill>
                  <a:srgbClr val="F0EFF5"/>
                </a:solidFill>
                <a:latin typeface="Calibri" pitchFamily="34" charset="0"/>
                <a:ea typeface="Calibri" pitchFamily="34" charset="-122"/>
                <a:cs typeface="Calibri" pitchFamily="34" charset="-120"/>
              </a:rPr>
              <a:t>is_read, created_at</a:t>
            </a:r>
            <a:endParaRPr lang="en-US" sz="1100" dirty="0"/>
          </a:p>
        </p:txBody>
      </p:sp>
      <p:pic>
        <p:nvPicPr>
          <p:cNvPr id="34" name="Image 0" descr="/home/claude/pptx/icons/arrow.png"/>
          <p:cNvPicPr>
            <a:picLocks noChangeAspect="1"/>
          </p:cNvPicPr>
          <p:nvPr/>
        </p:nvPicPr>
        <p:blipFill>
          <a:blip r:embed="rId3"/>
          <a:stretch>
            <a:fillRect/>
          </a:stretch>
        </p:blipFill>
        <p:spPr>
          <a:xfrm>
            <a:off x="3794760" y="2514600"/>
            <a:ext cx="548640" cy="274320"/>
          </a:xfrm>
          <a:prstGeom prst="rect">
            <a:avLst/>
          </a:prstGeom>
        </p:spPr>
      </p:pic>
      <p:pic>
        <p:nvPicPr>
          <p:cNvPr id="35" name="Image 1" descr="/home/claude/pptx/icons/arrow.png"/>
          <p:cNvPicPr>
            <a:picLocks noChangeAspect="1"/>
          </p:cNvPicPr>
          <p:nvPr/>
        </p:nvPicPr>
        <p:blipFill>
          <a:blip r:embed="rId3"/>
          <a:stretch>
            <a:fillRect/>
          </a:stretch>
        </p:blipFill>
        <p:spPr>
          <a:xfrm>
            <a:off x="7680960" y="2514600"/>
            <a:ext cx="548640" cy="274320"/>
          </a:xfrm>
          <a:prstGeom prst="rect">
            <a:avLst/>
          </a:prstGeom>
        </p:spPr>
      </p:pic>
      <p:sp>
        <p:nvSpPr>
          <p:cNvPr id="36" name="Text 32"/>
          <p:cNvSpPr/>
          <p:nvPr/>
        </p:nvSpPr>
        <p:spPr>
          <a:xfrm>
            <a:off x="640080" y="5394960"/>
            <a:ext cx="10881360" cy="365760"/>
          </a:xfrm>
          <a:prstGeom prst="rect">
            <a:avLst/>
          </a:prstGeom>
          <a:noFill/>
          <a:ln/>
        </p:spPr>
        <p:txBody>
          <a:bodyPr wrap="square" rtlCol="0" anchor="ctr"/>
          <a:lstStyle/>
          <a:p>
            <a:pPr marL="0" indent="0" algn="ctr">
              <a:buNone/>
            </a:pPr>
            <a:r>
              <a:rPr lang="en-US" sz="1200" dirty="0">
                <a:solidFill>
                  <a:srgbClr val="9A9AB5"/>
                </a:solidFill>
                <a:latin typeface="Calibri" pitchFamily="34" charset="0"/>
                <a:ea typeface="Calibri" pitchFamily="34" charset="-122"/>
                <a:cs typeface="Calibri" pitchFamily="34" charset="-120"/>
              </a:rPr>
              <a:t>1 user  →  many items        1 item  →  many messages        1 user  →  many messages sent/received</a:t>
            </a:r>
            <a:endParaRPr lang="en-US" sz="1200" dirty="0"/>
          </a:p>
        </p:txBody>
      </p:sp>
      <p:sp>
        <p:nvSpPr>
          <p:cNvPr id="37" name="Text 33"/>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38" name="Text 3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Implementation Highlights</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Core item-reporting logic, secured with prepared statements</a:t>
            </a:r>
            <a:endParaRPr lang="en-US" sz="1400" dirty="0"/>
          </a:p>
        </p:txBody>
      </p:sp>
      <p:sp>
        <p:nvSpPr>
          <p:cNvPr id="4" name="Shape 2"/>
          <p:cNvSpPr/>
          <p:nvPr/>
        </p:nvSpPr>
        <p:spPr>
          <a:xfrm>
            <a:off x="548640" y="1691640"/>
            <a:ext cx="6309360" cy="4434840"/>
          </a:xfrm>
          <a:prstGeom prst="roundRect">
            <a:avLst>
              <a:gd name="adj" fmla="val 1649"/>
            </a:avLst>
          </a:prstGeom>
          <a:solidFill>
            <a:srgbClr val="0F0F16"/>
          </a:solidFill>
          <a:ln w="12700">
            <a:solidFill>
              <a:srgbClr val="2A2A38"/>
            </a:solidFill>
            <a:prstDash val="solid"/>
          </a:ln>
        </p:spPr>
      </p:sp>
      <p:sp>
        <p:nvSpPr>
          <p:cNvPr id="5" name="Text 3"/>
          <p:cNvSpPr/>
          <p:nvPr/>
        </p:nvSpPr>
        <p:spPr>
          <a:xfrm>
            <a:off x="868680" y="1874520"/>
            <a:ext cx="5760720" cy="4114800"/>
          </a:xfrm>
          <a:prstGeom prst="rect">
            <a:avLst/>
          </a:prstGeom>
          <a:noFill/>
          <a:ln/>
        </p:spPr>
        <p:txBody>
          <a:bodyPr wrap="square" rtlCol="0" anchor="ctr"/>
          <a:lstStyle/>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function add_lost_item($name, $category,</a:t>
            </a: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$location, $date) {</a:t>
            </a:r>
            <a:endParaRPr lang="en-US" sz="1100" dirty="0"/>
          </a:p>
          <a:p>
            <a:pPr marL="0" indent="0">
              <a:lnSpc>
                <a:spcPct val="118000"/>
              </a:lnSpc>
              <a:buNone/>
            </a:pP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$conn = new mysqli($host, $user,</a:t>
            </a: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$pass, $db);</a:t>
            </a:r>
            <a:endParaRPr lang="en-US" sz="1100" dirty="0"/>
          </a:p>
          <a:p>
            <a:pPr marL="0" indent="0">
              <a:lnSpc>
                <a:spcPct val="118000"/>
              </a:lnSpc>
              <a:buNone/>
            </a:pP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$stmt = $conn-&gt;prepare(</a:t>
            </a: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"INSERT INTO items (title, category,</a:t>
            </a: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location, date) VALUES</a:t>
            </a: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 ?, ?, ?)"</a:t>
            </a: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a:t>
            </a:r>
            <a:endParaRPr lang="en-US" sz="1100" dirty="0"/>
          </a:p>
          <a:p>
            <a:pPr marL="0" indent="0">
              <a:lnSpc>
                <a:spcPct val="118000"/>
              </a:lnSpc>
              <a:buNone/>
            </a:pP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$stmt-&gt;bind_param("ssss", $name,</a:t>
            </a: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$category, $location,</a:t>
            </a: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$date);</a:t>
            </a: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  $stmt-&gt;execute();</a:t>
            </a:r>
            <a:endParaRPr lang="en-US" sz="1100" dirty="0"/>
          </a:p>
          <a:p>
            <a:pPr marL="0" indent="0">
              <a:lnSpc>
                <a:spcPct val="118000"/>
              </a:lnSpc>
              <a:buNone/>
            </a:pPr>
            <a:r>
              <a:rPr lang="en-US" sz="1100" dirty="0">
                <a:solidFill>
                  <a:srgbClr val="9FE8A0"/>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7178040" y="1783080"/>
            <a:ext cx="502920" cy="502920"/>
          </a:xfrm>
          <a:prstGeom prst="ellipse">
            <a:avLst/>
          </a:prstGeom>
          <a:solidFill>
            <a:srgbClr val="1C1C28"/>
          </a:solidFill>
          <a:ln w="12700">
            <a:solidFill>
              <a:srgbClr val="F0C04A"/>
            </a:solidFill>
            <a:prstDash val="solid"/>
          </a:ln>
        </p:spPr>
      </p:sp>
      <p:pic>
        <p:nvPicPr>
          <p:cNvPr id="7" name="Image 0" descr="/home/claude/pptx/icons/shield.png"/>
          <p:cNvPicPr>
            <a:picLocks noChangeAspect="1"/>
          </p:cNvPicPr>
          <p:nvPr/>
        </p:nvPicPr>
        <p:blipFill>
          <a:blip r:embed="rId3"/>
          <a:stretch>
            <a:fillRect/>
          </a:stretch>
        </p:blipFill>
        <p:spPr>
          <a:xfrm>
            <a:off x="7296912" y="1901952"/>
            <a:ext cx="265176" cy="265176"/>
          </a:xfrm>
          <a:prstGeom prst="rect">
            <a:avLst/>
          </a:prstGeom>
        </p:spPr>
      </p:pic>
      <p:sp>
        <p:nvSpPr>
          <p:cNvPr id="8" name="Text 5"/>
          <p:cNvSpPr/>
          <p:nvPr/>
        </p:nvSpPr>
        <p:spPr>
          <a:xfrm>
            <a:off x="7818120" y="1755648"/>
            <a:ext cx="3840480" cy="365760"/>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Prepared statements throughout</a:t>
            </a:r>
            <a:endParaRPr lang="en-US" sz="1350" dirty="0"/>
          </a:p>
        </p:txBody>
      </p:sp>
      <p:sp>
        <p:nvSpPr>
          <p:cNvPr id="9" name="Text 6"/>
          <p:cNvSpPr/>
          <p:nvPr/>
        </p:nvSpPr>
        <p:spPr>
          <a:xfrm>
            <a:off x="7818120" y="2121408"/>
            <a:ext cx="3840480" cy="914400"/>
          </a:xfrm>
          <a:prstGeom prst="rect">
            <a:avLst/>
          </a:prstGeom>
          <a:noFill/>
          <a:ln/>
        </p:spPr>
        <p:txBody>
          <a:bodyPr wrap="square" rtlCol="0" anchor="ctr"/>
          <a:lstStyle/>
          <a:p>
            <a:pPr marL="0" indent="0">
              <a:lnSpc>
                <a:spcPct val="125000"/>
              </a:lnSpc>
              <a:buNone/>
            </a:pPr>
            <a:r>
              <a:rPr lang="en-US" sz="1100" dirty="0">
                <a:solidFill>
                  <a:srgbClr val="9A9AB5"/>
                </a:solidFill>
                <a:latin typeface="Calibri" pitchFamily="34" charset="0"/>
                <a:ea typeface="Calibri" pitchFamily="34" charset="-122"/>
                <a:cs typeface="Calibri" pitchFamily="34" charset="-120"/>
              </a:rPr>
              <a:t>Every insert/update/select uses bind_param — the report names this the top priority for securely connecting PHP to MySQL.</a:t>
            </a:r>
            <a:endParaRPr lang="en-US" sz="1100" dirty="0"/>
          </a:p>
        </p:txBody>
      </p:sp>
      <p:sp>
        <p:nvSpPr>
          <p:cNvPr id="10" name="Shape 7"/>
          <p:cNvSpPr/>
          <p:nvPr/>
        </p:nvSpPr>
        <p:spPr>
          <a:xfrm>
            <a:off x="7178040" y="3200400"/>
            <a:ext cx="502920" cy="502920"/>
          </a:xfrm>
          <a:prstGeom prst="ellipse">
            <a:avLst/>
          </a:prstGeom>
          <a:solidFill>
            <a:srgbClr val="1C1C28"/>
          </a:solidFill>
          <a:ln w="12700">
            <a:solidFill>
              <a:srgbClr val="F0C04A"/>
            </a:solidFill>
            <a:prstDash val="solid"/>
          </a:ln>
        </p:spPr>
      </p:sp>
      <p:pic>
        <p:nvPicPr>
          <p:cNvPr id="11" name="Image 1" descr="/home/claude/pptx/icons/filter.png"/>
          <p:cNvPicPr>
            <a:picLocks noChangeAspect="1"/>
          </p:cNvPicPr>
          <p:nvPr/>
        </p:nvPicPr>
        <p:blipFill>
          <a:blip r:embed="rId4"/>
          <a:stretch>
            <a:fillRect/>
          </a:stretch>
        </p:blipFill>
        <p:spPr>
          <a:xfrm>
            <a:off x="7296912" y="3319272"/>
            <a:ext cx="265176" cy="265176"/>
          </a:xfrm>
          <a:prstGeom prst="rect">
            <a:avLst/>
          </a:prstGeom>
        </p:spPr>
      </p:pic>
      <p:sp>
        <p:nvSpPr>
          <p:cNvPr id="12" name="Text 8"/>
          <p:cNvSpPr/>
          <p:nvPr/>
        </p:nvSpPr>
        <p:spPr>
          <a:xfrm>
            <a:off x="7818120" y="3172968"/>
            <a:ext cx="3840480" cy="365760"/>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Standardized location input</a:t>
            </a:r>
            <a:endParaRPr lang="en-US" sz="1350" dirty="0"/>
          </a:p>
        </p:txBody>
      </p:sp>
      <p:sp>
        <p:nvSpPr>
          <p:cNvPr id="13" name="Text 9"/>
          <p:cNvSpPr/>
          <p:nvPr/>
        </p:nvSpPr>
        <p:spPr>
          <a:xfrm>
            <a:off x="7818120" y="3538728"/>
            <a:ext cx="3840480" cy="914400"/>
          </a:xfrm>
          <a:prstGeom prst="rect">
            <a:avLst/>
          </a:prstGeom>
          <a:noFill/>
          <a:ln/>
        </p:spPr>
        <p:txBody>
          <a:bodyPr wrap="square" rtlCol="0" anchor="ctr"/>
          <a:lstStyle/>
          <a:p>
            <a:pPr marL="0" indent="0">
              <a:lnSpc>
                <a:spcPct val="125000"/>
              </a:lnSpc>
              <a:buNone/>
            </a:pPr>
            <a:r>
              <a:rPr lang="en-US" sz="1100" dirty="0">
                <a:solidFill>
                  <a:srgbClr val="9A9AB5"/>
                </a:solidFill>
                <a:latin typeface="Calibri" pitchFamily="34" charset="0"/>
                <a:ea typeface="Calibri" pitchFamily="34" charset="-122"/>
                <a:cs typeface="Calibri" pitchFamily="34" charset="-120"/>
              </a:rPr>
              <a:t>Free-text location fields were replaced with predefined dropdown menus to keep data consistent for search &amp; filtering.</a:t>
            </a:r>
            <a:endParaRPr lang="en-US" sz="1100" dirty="0"/>
          </a:p>
        </p:txBody>
      </p:sp>
      <p:sp>
        <p:nvSpPr>
          <p:cNvPr id="14" name="Shape 10"/>
          <p:cNvSpPr/>
          <p:nvPr/>
        </p:nvSpPr>
        <p:spPr>
          <a:xfrm>
            <a:off x="7178040" y="4617720"/>
            <a:ext cx="502920" cy="502920"/>
          </a:xfrm>
          <a:prstGeom prst="ellipse">
            <a:avLst/>
          </a:prstGeom>
          <a:solidFill>
            <a:srgbClr val="1C1C28"/>
          </a:solidFill>
          <a:ln w="12700">
            <a:solidFill>
              <a:srgbClr val="F0C04A"/>
            </a:solidFill>
            <a:prstDash val="solid"/>
          </a:ln>
        </p:spPr>
      </p:sp>
      <p:pic>
        <p:nvPicPr>
          <p:cNvPr id="15" name="Image 2" descr="/home/claude/pptx/icons/check.png"/>
          <p:cNvPicPr>
            <a:picLocks noChangeAspect="1"/>
          </p:cNvPicPr>
          <p:nvPr/>
        </p:nvPicPr>
        <p:blipFill>
          <a:blip r:embed="rId5"/>
          <a:stretch>
            <a:fillRect/>
          </a:stretch>
        </p:blipFill>
        <p:spPr>
          <a:xfrm>
            <a:off x="7296912" y="4736592"/>
            <a:ext cx="265176" cy="265176"/>
          </a:xfrm>
          <a:prstGeom prst="rect">
            <a:avLst/>
          </a:prstGeom>
        </p:spPr>
      </p:pic>
      <p:sp>
        <p:nvSpPr>
          <p:cNvPr id="16" name="Text 11"/>
          <p:cNvSpPr/>
          <p:nvPr/>
        </p:nvSpPr>
        <p:spPr>
          <a:xfrm>
            <a:off x="7818120" y="4590288"/>
            <a:ext cx="3840480" cy="365760"/>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Form validation in JS</a:t>
            </a:r>
            <a:endParaRPr lang="en-US" sz="1350" dirty="0"/>
          </a:p>
        </p:txBody>
      </p:sp>
      <p:sp>
        <p:nvSpPr>
          <p:cNvPr id="17" name="Text 12"/>
          <p:cNvSpPr/>
          <p:nvPr/>
        </p:nvSpPr>
        <p:spPr>
          <a:xfrm>
            <a:off x="7818120" y="4956048"/>
            <a:ext cx="3840480" cy="914400"/>
          </a:xfrm>
          <a:prstGeom prst="rect">
            <a:avLst/>
          </a:prstGeom>
          <a:noFill/>
          <a:ln/>
        </p:spPr>
        <p:txBody>
          <a:bodyPr wrap="square" rtlCol="0" anchor="ctr"/>
          <a:lstStyle/>
          <a:p>
            <a:pPr marL="0" indent="0">
              <a:lnSpc>
                <a:spcPct val="125000"/>
              </a:lnSpc>
              <a:buNone/>
            </a:pPr>
            <a:r>
              <a:rPr lang="en-US" sz="1100" dirty="0">
                <a:solidFill>
                  <a:srgbClr val="9A9AB5"/>
                </a:solidFill>
                <a:latin typeface="Calibri" pitchFamily="34" charset="0"/>
                <a:ea typeface="Calibri" pitchFamily="34" charset="-122"/>
                <a:cs typeface="Calibri" pitchFamily="34" charset="-120"/>
              </a:rPr>
              <a:t>Client-side checks catch missing fields before submission; the server re-validates on arrival.</a:t>
            </a:r>
            <a:endParaRPr lang="en-US" sz="1100" dirty="0"/>
          </a:p>
        </p:txBody>
      </p:sp>
      <p:sp>
        <p:nvSpPr>
          <p:cNvPr id="18" name="Text 13"/>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19" name="Text 1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Browse &amp; Discover</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Public homepage — no login required to search listings</a:t>
            </a:r>
            <a:endParaRPr lang="en-US" sz="1400" dirty="0"/>
          </a:p>
        </p:txBody>
      </p:sp>
      <p:sp>
        <p:nvSpPr>
          <p:cNvPr id="4" name="Shape 2"/>
          <p:cNvSpPr/>
          <p:nvPr/>
        </p:nvSpPr>
        <p:spPr>
          <a:xfrm>
            <a:off x="5001768" y="1618488"/>
            <a:ext cx="6455664" cy="3209544"/>
          </a:xfrm>
          <a:prstGeom prst="roundRect">
            <a:avLst>
              <a:gd name="adj" fmla="val 1709"/>
            </a:avLst>
          </a:prstGeom>
          <a:solidFill>
            <a:srgbClr val="13131A"/>
          </a:solidFill>
          <a:ln w="12700">
            <a:solidFill>
              <a:srgbClr val="2A2A38"/>
            </a:solidFill>
            <a:prstDash val="solid"/>
          </a:ln>
          <a:effectLst>
            <a:outerShdw blurRad="152400" dist="50800" dir="5400000" algn="bl" rotWithShape="0">
              <a:srgbClr val="000000">
                <a:alpha val="50000"/>
              </a:srgbClr>
            </a:outerShdw>
          </a:effectLst>
        </p:spPr>
      </p:sp>
      <p:pic>
        <p:nvPicPr>
          <p:cNvPr id="5" name="Image 0" descr="/home/claude/pptx/hero_crop.png"/>
          <p:cNvPicPr>
            <a:picLocks noChangeAspect="1"/>
          </p:cNvPicPr>
          <p:nvPr/>
        </p:nvPicPr>
        <p:blipFill>
          <a:blip r:embed="rId3"/>
          <a:stretch>
            <a:fillRect/>
          </a:stretch>
        </p:blipFill>
        <p:spPr>
          <a:xfrm>
            <a:off x="5074920" y="1691640"/>
            <a:ext cx="6309360" cy="3063240"/>
          </a:xfrm>
          <a:prstGeom prst="rect">
            <a:avLst/>
          </a:prstGeom>
        </p:spPr>
      </p:pic>
      <p:sp>
        <p:nvSpPr>
          <p:cNvPr id="6" name="Shape 3"/>
          <p:cNvSpPr/>
          <p:nvPr/>
        </p:nvSpPr>
        <p:spPr>
          <a:xfrm>
            <a:off x="594360" y="1810512"/>
            <a:ext cx="100584" cy="100584"/>
          </a:xfrm>
          <a:prstGeom prst="ellipse">
            <a:avLst/>
          </a:prstGeom>
          <a:solidFill>
            <a:srgbClr val="F0C04A"/>
          </a:solidFill>
          <a:ln/>
        </p:spPr>
      </p:sp>
      <p:sp>
        <p:nvSpPr>
          <p:cNvPr id="7" name="Text 4"/>
          <p:cNvSpPr/>
          <p:nvPr/>
        </p:nvSpPr>
        <p:spPr>
          <a:xfrm>
            <a:off x="822960" y="1664208"/>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Live campus stats</a:t>
            </a:r>
            <a:endParaRPr lang="en-US" sz="1350" dirty="0"/>
          </a:p>
        </p:txBody>
      </p:sp>
      <p:sp>
        <p:nvSpPr>
          <p:cNvPr id="8" name="Text 5"/>
          <p:cNvSpPr/>
          <p:nvPr/>
        </p:nvSpPr>
        <p:spPr>
          <a:xfrm>
            <a:off x="822960" y="1956816"/>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Total reports, matches, and resolved counts update from the database.</a:t>
            </a:r>
            <a:endParaRPr lang="en-US" sz="1100" dirty="0"/>
          </a:p>
        </p:txBody>
      </p:sp>
      <p:sp>
        <p:nvSpPr>
          <p:cNvPr id="9" name="Shape 6"/>
          <p:cNvSpPr/>
          <p:nvPr/>
        </p:nvSpPr>
        <p:spPr>
          <a:xfrm>
            <a:off x="594360" y="2651760"/>
            <a:ext cx="100584" cy="100584"/>
          </a:xfrm>
          <a:prstGeom prst="ellipse">
            <a:avLst/>
          </a:prstGeom>
          <a:solidFill>
            <a:srgbClr val="F0C04A"/>
          </a:solidFill>
          <a:ln/>
        </p:spPr>
      </p:sp>
      <p:sp>
        <p:nvSpPr>
          <p:cNvPr id="10" name="Text 7"/>
          <p:cNvSpPr/>
          <p:nvPr/>
        </p:nvSpPr>
        <p:spPr>
          <a:xfrm>
            <a:off x="822960" y="2505456"/>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One-tap reporting</a:t>
            </a:r>
            <a:endParaRPr lang="en-US" sz="1350" dirty="0"/>
          </a:p>
        </p:txBody>
      </p:sp>
      <p:sp>
        <p:nvSpPr>
          <p:cNvPr id="11" name="Text 8"/>
          <p:cNvSpPr/>
          <p:nvPr/>
        </p:nvSpPr>
        <p:spPr>
          <a:xfrm>
            <a:off x="822960" y="2798064"/>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"I Lost Something" / "I Found Something" CTAs jump straight to the form.</a:t>
            </a:r>
            <a:endParaRPr lang="en-US" sz="1100" dirty="0"/>
          </a:p>
        </p:txBody>
      </p:sp>
      <p:sp>
        <p:nvSpPr>
          <p:cNvPr id="12" name="Shape 9"/>
          <p:cNvSpPr/>
          <p:nvPr/>
        </p:nvSpPr>
        <p:spPr>
          <a:xfrm>
            <a:off x="594360" y="3493008"/>
            <a:ext cx="100584" cy="100584"/>
          </a:xfrm>
          <a:prstGeom prst="ellipse">
            <a:avLst/>
          </a:prstGeom>
          <a:solidFill>
            <a:srgbClr val="F0C04A"/>
          </a:solidFill>
          <a:ln/>
        </p:spPr>
      </p:sp>
      <p:sp>
        <p:nvSpPr>
          <p:cNvPr id="13" name="Text 10"/>
          <p:cNvSpPr/>
          <p:nvPr/>
        </p:nvSpPr>
        <p:spPr>
          <a:xfrm>
            <a:off x="822960" y="3346704"/>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Instant search</a:t>
            </a:r>
            <a:endParaRPr lang="en-US" sz="1350" dirty="0"/>
          </a:p>
        </p:txBody>
      </p:sp>
      <p:sp>
        <p:nvSpPr>
          <p:cNvPr id="14" name="Text 11"/>
          <p:cNvSpPr/>
          <p:nvPr/>
        </p:nvSpPr>
        <p:spPr>
          <a:xfrm>
            <a:off x="822960" y="3639312"/>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Keyword search across title, description, and location.</a:t>
            </a:r>
            <a:endParaRPr lang="en-US" sz="110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16"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Item Listings</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Filterable card grid with category chips and status badges</a:t>
            </a:r>
            <a:endParaRPr lang="en-US" sz="1400" dirty="0"/>
          </a:p>
        </p:txBody>
      </p:sp>
      <p:sp>
        <p:nvSpPr>
          <p:cNvPr id="4" name="Shape 2"/>
          <p:cNvSpPr/>
          <p:nvPr/>
        </p:nvSpPr>
        <p:spPr>
          <a:xfrm>
            <a:off x="6053328" y="1618488"/>
            <a:ext cx="5678424" cy="3447288"/>
          </a:xfrm>
          <a:prstGeom prst="roundRect">
            <a:avLst>
              <a:gd name="adj" fmla="val 1592"/>
            </a:avLst>
          </a:prstGeom>
          <a:solidFill>
            <a:srgbClr val="13131A"/>
          </a:solidFill>
          <a:ln w="12700">
            <a:solidFill>
              <a:srgbClr val="2A2A38"/>
            </a:solidFill>
            <a:prstDash val="solid"/>
          </a:ln>
          <a:effectLst>
            <a:outerShdw blurRad="152400" dist="50800" dir="5400000" algn="bl" rotWithShape="0">
              <a:srgbClr val="000000">
                <a:alpha val="50000"/>
              </a:srgbClr>
            </a:outerShdw>
          </a:effectLst>
        </p:spPr>
      </p:sp>
      <p:pic>
        <p:nvPicPr>
          <p:cNvPr id="5" name="Image 0" descr="/home/claude/pptx/items_grid2.png"/>
          <p:cNvPicPr>
            <a:picLocks noChangeAspect="1"/>
          </p:cNvPicPr>
          <p:nvPr/>
        </p:nvPicPr>
        <p:blipFill>
          <a:blip r:embed="rId3"/>
          <a:stretch>
            <a:fillRect/>
          </a:stretch>
        </p:blipFill>
        <p:spPr>
          <a:xfrm>
            <a:off x="6126480" y="1691640"/>
            <a:ext cx="5532120" cy="3300984"/>
          </a:xfrm>
          <a:prstGeom prst="rect">
            <a:avLst/>
          </a:prstGeom>
        </p:spPr>
      </p:pic>
      <p:sp>
        <p:nvSpPr>
          <p:cNvPr id="6" name="Shape 3"/>
          <p:cNvSpPr/>
          <p:nvPr/>
        </p:nvSpPr>
        <p:spPr>
          <a:xfrm>
            <a:off x="594360" y="1810512"/>
            <a:ext cx="100584" cy="100584"/>
          </a:xfrm>
          <a:prstGeom prst="ellipse">
            <a:avLst/>
          </a:prstGeom>
          <a:solidFill>
            <a:srgbClr val="F0C04A"/>
          </a:solidFill>
          <a:ln/>
        </p:spPr>
      </p:sp>
      <p:sp>
        <p:nvSpPr>
          <p:cNvPr id="7" name="Text 4"/>
          <p:cNvSpPr/>
          <p:nvPr/>
        </p:nvSpPr>
        <p:spPr>
          <a:xfrm>
            <a:off x="822960" y="1664208"/>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Status badges</a:t>
            </a:r>
            <a:endParaRPr lang="en-US" sz="1350" dirty="0"/>
          </a:p>
        </p:txBody>
      </p:sp>
      <p:sp>
        <p:nvSpPr>
          <p:cNvPr id="8" name="Text 5"/>
          <p:cNvSpPr/>
          <p:nvPr/>
        </p:nvSpPr>
        <p:spPr>
          <a:xfrm>
            <a:off x="822960" y="1956816"/>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Color-coded LOST (red) / FOUND (green) tags for instant scanning.</a:t>
            </a:r>
            <a:endParaRPr lang="en-US" sz="1100" dirty="0"/>
          </a:p>
        </p:txBody>
      </p:sp>
      <p:sp>
        <p:nvSpPr>
          <p:cNvPr id="9" name="Shape 6"/>
          <p:cNvSpPr/>
          <p:nvPr/>
        </p:nvSpPr>
        <p:spPr>
          <a:xfrm>
            <a:off x="594360" y="2651760"/>
            <a:ext cx="100584" cy="100584"/>
          </a:xfrm>
          <a:prstGeom prst="ellipse">
            <a:avLst/>
          </a:prstGeom>
          <a:solidFill>
            <a:srgbClr val="F0C04A"/>
          </a:solidFill>
          <a:ln/>
        </p:spPr>
      </p:sp>
      <p:sp>
        <p:nvSpPr>
          <p:cNvPr id="10" name="Text 7"/>
          <p:cNvSpPr/>
          <p:nvPr/>
        </p:nvSpPr>
        <p:spPr>
          <a:xfrm>
            <a:off x="822960" y="2505456"/>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Category filters</a:t>
            </a:r>
            <a:endParaRPr lang="en-US" sz="1350" dirty="0"/>
          </a:p>
        </p:txBody>
      </p:sp>
      <p:sp>
        <p:nvSpPr>
          <p:cNvPr id="11" name="Text 8"/>
          <p:cNvSpPr/>
          <p:nvPr/>
        </p:nvSpPr>
        <p:spPr>
          <a:xfrm>
            <a:off x="822960" y="2798064"/>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Electronics, bags, keys, documents, clothing, jewelry, other.</a:t>
            </a:r>
            <a:endParaRPr lang="en-US" sz="1100" dirty="0"/>
          </a:p>
        </p:txBody>
      </p:sp>
      <p:sp>
        <p:nvSpPr>
          <p:cNvPr id="12" name="Shape 9"/>
          <p:cNvSpPr/>
          <p:nvPr/>
        </p:nvSpPr>
        <p:spPr>
          <a:xfrm>
            <a:off x="594360" y="3493008"/>
            <a:ext cx="100584" cy="100584"/>
          </a:xfrm>
          <a:prstGeom prst="ellipse">
            <a:avLst/>
          </a:prstGeom>
          <a:solidFill>
            <a:srgbClr val="F0C04A"/>
          </a:solidFill>
          <a:ln/>
        </p:spPr>
      </p:sp>
      <p:sp>
        <p:nvSpPr>
          <p:cNvPr id="13" name="Text 10"/>
          <p:cNvSpPr/>
          <p:nvPr/>
        </p:nvSpPr>
        <p:spPr>
          <a:xfrm>
            <a:off x="822960" y="3346704"/>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Reporter contact</a:t>
            </a:r>
            <a:endParaRPr lang="en-US" sz="1350" dirty="0"/>
          </a:p>
        </p:txBody>
      </p:sp>
      <p:sp>
        <p:nvSpPr>
          <p:cNvPr id="14" name="Text 11"/>
          <p:cNvSpPr/>
          <p:nvPr/>
        </p:nvSpPr>
        <p:spPr>
          <a:xfrm>
            <a:off x="822960" y="3639312"/>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Direct "Contact" action opens the messaging flow.</a:t>
            </a:r>
            <a:endParaRPr lang="en-US" sz="110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16"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Report an Item</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AJAX form posts to items.php with optional image upload</a:t>
            </a:r>
            <a:endParaRPr lang="en-US" sz="1400" dirty="0"/>
          </a:p>
        </p:txBody>
      </p:sp>
      <p:sp>
        <p:nvSpPr>
          <p:cNvPr id="4" name="Shape 2"/>
          <p:cNvSpPr/>
          <p:nvPr/>
        </p:nvSpPr>
        <p:spPr>
          <a:xfrm>
            <a:off x="5001768" y="1618488"/>
            <a:ext cx="5221224" cy="3163824"/>
          </a:xfrm>
          <a:prstGeom prst="roundRect">
            <a:avLst>
              <a:gd name="adj" fmla="val 1734"/>
            </a:avLst>
          </a:prstGeom>
          <a:solidFill>
            <a:srgbClr val="13131A"/>
          </a:solidFill>
          <a:ln w="12700">
            <a:solidFill>
              <a:srgbClr val="2A2A38"/>
            </a:solidFill>
            <a:prstDash val="solid"/>
          </a:ln>
          <a:effectLst>
            <a:outerShdw blurRad="152400" dist="50800" dir="5400000" algn="bl" rotWithShape="0">
              <a:srgbClr val="000000">
                <a:alpha val="50000"/>
              </a:srgbClr>
            </a:outerShdw>
          </a:effectLst>
        </p:spPr>
      </p:sp>
      <p:pic>
        <p:nvPicPr>
          <p:cNvPr id="5" name="Image 0" descr="/home/claude/pptx/report_crop.png"/>
          <p:cNvPicPr>
            <a:picLocks noChangeAspect="1"/>
          </p:cNvPicPr>
          <p:nvPr/>
        </p:nvPicPr>
        <p:blipFill>
          <a:blip r:embed="rId3"/>
          <a:stretch>
            <a:fillRect/>
          </a:stretch>
        </p:blipFill>
        <p:spPr>
          <a:xfrm>
            <a:off x="5074920" y="1691640"/>
            <a:ext cx="5074920" cy="3017520"/>
          </a:xfrm>
          <a:prstGeom prst="rect">
            <a:avLst/>
          </a:prstGeom>
        </p:spPr>
      </p:pic>
      <p:sp>
        <p:nvSpPr>
          <p:cNvPr id="6" name="Shape 3"/>
          <p:cNvSpPr/>
          <p:nvPr/>
        </p:nvSpPr>
        <p:spPr>
          <a:xfrm>
            <a:off x="594360" y="1810512"/>
            <a:ext cx="100584" cy="100584"/>
          </a:xfrm>
          <a:prstGeom prst="ellipse">
            <a:avLst/>
          </a:prstGeom>
          <a:solidFill>
            <a:srgbClr val="F0C04A"/>
          </a:solidFill>
          <a:ln/>
        </p:spPr>
      </p:sp>
      <p:sp>
        <p:nvSpPr>
          <p:cNvPr id="7" name="Text 4"/>
          <p:cNvSpPr/>
          <p:nvPr/>
        </p:nvSpPr>
        <p:spPr>
          <a:xfrm>
            <a:off x="822960" y="1664208"/>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Lost / Found toggle</a:t>
            </a:r>
            <a:endParaRPr lang="en-US" sz="1350" dirty="0"/>
          </a:p>
        </p:txBody>
      </p:sp>
      <p:sp>
        <p:nvSpPr>
          <p:cNvPr id="8" name="Text 5"/>
          <p:cNvSpPr/>
          <p:nvPr/>
        </p:nvSpPr>
        <p:spPr>
          <a:xfrm>
            <a:off x="822960" y="1956816"/>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Single form adapts copy &amp; fields for either report type.</a:t>
            </a:r>
            <a:endParaRPr lang="en-US" sz="1100" dirty="0"/>
          </a:p>
        </p:txBody>
      </p:sp>
      <p:sp>
        <p:nvSpPr>
          <p:cNvPr id="9" name="Shape 6"/>
          <p:cNvSpPr/>
          <p:nvPr/>
        </p:nvSpPr>
        <p:spPr>
          <a:xfrm>
            <a:off x="594360" y="2651760"/>
            <a:ext cx="100584" cy="100584"/>
          </a:xfrm>
          <a:prstGeom prst="ellipse">
            <a:avLst/>
          </a:prstGeom>
          <a:solidFill>
            <a:srgbClr val="F0C04A"/>
          </a:solidFill>
          <a:ln/>
        </p:spPr>
      </p:sp>
      <p:sp>
        <p:nvSpPr>
          <p:cNvPr id="10" name="Text 7"/>
          <p:cNvSpPr/>
          <p:nvPr/>
        </p:nvSpPr>
        <p:spPr>
          <a:xfrm>
            <a:off x="822960" y="2505456"/>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Structured metadata</a:t>
            </a:r>
            <a:endParaRPr lang="en-US" sz="1350" dirty="0"/>
          </a:p>
        </p:txBody>
      </p:sp>
      <p:sp>
        <p:nvSpPr>
          <p:cNvPr id="11" name="Text 8"/>
          <p:cNvSpPr/>
          <p:nvPr/>
        </p:nvSpPr>
        <p:spPr>
          <a:xfrm>
            <a:off x="822960" y="2798064"/>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Category, date, and location captured for accurate matching.</a:t>
            </a:r>
            <a:endParaRPr lang="en-US" sz="1100" dirty="0"/>
          </a:p>
        </p:txBody>
      </p:sp>
      <p:sp>
        <p:nvSpPr>
          <p:cNvPr id="12" name="Shape 9"/>
          <p:cNvSpPr/>
          <p:nvPr/>
        </p:nvSpPr>
        <p:spPr>
          <a:xfrm>
            <a:off x="594360" y="3493008"/>
            <a:ext cx="100584" cy="100584"/>
          </a:xfrm>
          <a:prstGeom prst="ellipse">
            <a:avLst/>
          </a:prstGeom>
          <a:solidFill>
            <a:srgbClr val="F0C04A"/>
          </a:solidFill>
          <a:ln/>
        </p:spPr>
      </p:sp>
      <p:sp>
        <p:nvSpPr>
          <p:cNvPr id="13" name="Text 10"/>
          <p:cNvSpPr/>
          <p:nvPr/>
        </p:nvSpPr>
        <p:spPr>
          <a:xfrm>
            <a:off x="822960" y="3346704"/>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Validated uploads</a:t>
            </a:r>
            <a:endParaRPr lang="en-US" sz="1350" dirty="0"/>
          </a:p>
        </p:txBody>
      </p:sp>
      <p:sp>
        <p:nvSpPr>
          <p:cNvPr id="14" name="Text 11"/>
          <p:cNvSpPr/>
          <p:nvPr/>
        </p:nvSpPr>
        <p:spPr>
          <a:xfrm>
            <a:off x="822960" y="3639312"/>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Images restricted to jpg/png/gif/webp, capped at 5MB server-side.</a:t>
            </a:r>
            <a:endParaRPr lang="en-US" sz="110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16"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Authentication</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Session-based login &amp; registration with bcrypt-hashed passwords</a:t>
            </a:r>
            <a:endParaRPr lang="en-US" sz="1400" dirty="0"/>
          </a:p>
        </p:txBody>
      </p:sp>
      <p:sp>
        <p:nvSpPr>
          <p:cNvPr id="4" name="Shape 2"/>
          <p:cNvSpPr/>
          <p:nvPr/>
        </p:nvSpPr>
        <p:spPr>
          <a:xfrm>
            <a:off x="5001768" y="1618488"/>
            <a:ext cx="5221224" cy="2615184"/>
          </a:xfrm>
          <a:prstGeom prst="roundRect">
            <a:avLst>
              <a:gd name="adj" fmla="val 2098"/>
            </a:avLst>
          </a:prstGeom>
          <a:solidFill>
            <a:srgbClr val="13131A"/>
          </a:solidFill>
          <a:ln w="12700">
            <a:solidFill>
              <a:srgbClr val="2A2A38"/>
            </a:solidFill>
            <a:prstDash val="solid"/>
          </a:ln>
          <a:effectLst>
            <a:outerShdw blurRad="152400" dist="50800" dir="5400000" algn="bl" rotWithShape="0">
              <a:srgbClr val="000000">
                <a:alpha val="50000"/>
              </a:srgbClr>
            </a:outerShdw>
          </a:effectLst>
        </p:spPr>
      </p:sp>
      <p:pic>
        <p:nvPicPr>
          <p:cNvPr id="5" name="Image 0" descr="/home/claude/pptx/auth_crop.png"/>
          <p:cNvPicPr>
            <a:picLocks noChangeAspect="1"/>
          </p:cNvPicPr>
          <p:nvPr/>
        </p:nvPicPr>
        <p:blipFill>
          <a:blip r:embed="rId3"/>
          <a:stretch>
            <a:fillRect/>
          </a:stretch>
        </p:blipFill>
        <p:spPr>
          <a:xfrm>
            <a:off x="5074920" y="1691640"/>
            <a:ext cx="5074920" cy="2468880"/>
          </a:xfrm>
          <a:prstGeom prst="rect">
            <a:avLst/>
          </a:prstGeom>
        </p:spPr>
      </p:pic>
      <p:sp>
        <p:nvSpPr>
          <p:cNvPr id="6" name="Shape 3"/>
          <p:cNvSpPr/>
          <p:nvPr/>
        </p:nvSpPr>
        <p:spPr>
          <a:xfrm>
            <a:off x="594360" y="1810512"/>
            <a:ext cx="100584" cy="100584"/>
          </a:xfrm>
          <a:prstGeom prst="ellipse">
            <a:avLst/>
          </a:prstGeom>
          <a:solidFill>
            <a:srgbClr val="F0C04A"/>
          </a:solidFill>
          <a:ln/>
        </p:spPr>
      </p:sp>
      <p:sp>
        <p:nvSpPr>
          <p:cNvPr id="7" name="Text 4"/>
          <p:cNvSpPr/>
          <p:nvPr/>
        </p:nvSpPr>
        <p:spPr>
          <a:xfrm>
            <a:off x="822960" y="1664208"/>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Register &amp; login</a:t>
            </a:r>
            <a:endParaRPr lang="en-US" sz="1350" dirty="0"/>
          </a:p>
        </p:txBody>
      </p:sp>
      <p:sp>
        <p:nvSpPr>
          <p:cNvPr id="8" name="Text 5"/>
          <p:cNvSpPr/>
          <p:nvPr/>
        </p:nvSpPr>
        <p:spPr>
          <a:xfrm>
            <a:off x="822960" y="1956816"/>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Single tabbed panel, backed by auth.php.</a:t>
            </a:r>
            <a:endParaRPr lang="en-US" sz="1100" dirty="0"/>
          </a:p>
        </p:txBody>
      </p:sp>
      <p:sp>
        <p:nvSpPr>
          <p:cNvPr id="9" name="Shape 6"/>
          <p:cNvSpPr/>
          <p:nvPr/>
        </p:nvSpPr>
        <p:spPr>
          <a:xfrm>
            <a:off x="594360" y="2651760"/>
            <a:ext cx="100584" cy="100584"/>
          </a:xfrm>
          <a:prstGeom prst="ellipse">
            <a:avLst/>
          </a:prstGeom>
          <a:solidFill>
            <a:srgbClr val="F0C04A"/>
          </a:solidFill>
          <a:ln/>
        </p:spPr>
      </p:sp>
      <p:sp>
        <p:nvSpPr>
          <p:cNvPr id="10" name="Text 7"/>
          <p:cNvSpPr/>
          <p:nvPr/>
        </p:nvSpPr>
        <p:spPr>
          <a:xfrm>
            <a:off x="822960" y="2505456"/>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Secure by default</a:t>
            </a:r>
            <a:endParaRPr lang="en-US" sz="1350" dirty="0"/>
          </a:p>
        </p:txBody>
      </p:sp>
      <p:sp>
        <p:nvSpPr>
          <p:cNvPr id="11" name="Text 8"/>
          <p:cNvSpPr/>
          <p:nvPr/>
        </p:nvSpPr>
        <p:spPr>
          <a:xfrm>
            <a:off x="822960" y="2798064"/>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password_hash() / password_verify() — no plaintext storage.</a:t>
            </a:r>
            <a:endParaRPr lang="en-US" sz="1100" dirty="0"/>
          </a:p>
        </p:txBody>
      </p:sp>
      <p:sp>
        <p:nvSpPr>
          <p:cNvPr id="12" name="Shape 9"/>
          <p:cNvSpPr/>
          <p:nvPr/>
        </p:nvSpPr>
        <p:spPr>
          <a:xfrm>
            <a:off x="594360" y="3493008"/>
            <a:ext cx="100584" cy="100584"/>
          </a:xfrm>
          <a:prstGeom prst="ellipse">
            <a:avLst/>
          </a:prstGeom>
          <a:solidFill>
            <a:srgbClr val="F0C04A"/>
          </a:solidFill>
          <a:ln/>
        </p:spPr>
      </p:sp>
      <p:sp>
        <p:nvSpPr>
          <p:cNvPr id="13" name="Text 10"/>
          <p:cNvSpPr/>
          <p:nvPr/>
        </p:nvSpPr>
        <p:spPr>
          <a:xfrm>
            <a:off x="822960" y="3346704"/>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Role assigned at signup</a:t>
            </a:r>
            <a:endParaRPr lang="en-US" sz="1350" dirty="0"/>
          </a:p>
        </p:txBody>
      </p:sp>
      <p:sp>
        <p:nvSpPr>
          <p:cNvPr id="14" name="Text 11"/>
          <p:cNvSpPr/>
          <p:nvPr/>
        </p:nvSpPr>
        <p:spPr>
          <a:xfrm>
            <a:off x="822960" y="3639312"/>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New accounts default to "user"; admins are provisioned separately.</a:t>
            </a:r>
            <a:endParaRPr lang="en-US" sz="110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16"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Admin Dashboard</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Restricted to accounts with role = admin (server-side check)</a:t>
            </a:r>
            <a:endParaRPr lang="en-US" sz="1400" dirty="0"/>
          </a:p>
        </p:txBody>
      </p:sp>
      <p:sp>
        <p:nvSpPr>
          <p:cNvPr id="4" name="Shape 2"/>
          <p:cNvSpPr/>
          <p:nvPr/>
        </p:nvSpPr>
        <p:spPr>
          <a:xfrm>
            <a:off x="5001768" y="1618488"/>
            <a:ext cx="6455664" cy="3483864"/>
          </a:xfrm>
          <a:prstGeom prst="roundRect">
            <a:avLst>
              <a:gd name="adj" fmla="val 1575"/>
            </a:avLst>
          </a:prstGeom>
          <a:solidFill>
            <a:srgbClr val="13131A"/>
          </a:solidFill>
          <a:ln w="12700">
            <a:solidFill>
              <a:srgbClr val="2A2A38"/>
            </a:solidFill>
            <a:prstDash val="solid"/>
          </a:ln>
          <a:effectLst>
            <a:outerShdw blurRad="152400" dist="50800" dir="5400000" algn="bl" rotWithShape="0">
              <a:srgbClr val="000000">
                <a:alpha val="50000"/>
              </a:srgbClr>
            </a:outerShdw>
          </a:effectLst>
        </p:spPr>
      </p:sp>
      <p:pic>
        <p:nvPicPr>
          <p:cNvPr id="5" name="Image 0" descr="/home/claude/pptx/admin_crop.png"/>
          <p:cNvPicPr>
            <a:picLocks noChangeAspect="1"/>
          </p:cNvPicPr>
          <p:nvPr/>
        </p:nvPicPr>
        <p:blipFill>
          <a:blip r:embed="rId3"/>
          <a:stretch>
            <a:fillRect/>
          </a:stretch>
        </p:blipFill>
        <p:spPr>
          <a:xfrm>
            <a:off x="5074920" y="1691640"/>
            <a:ext cx="6309360" cy="3337560"/>
          </a:xfrm>
          <a:prstGeom prst="rect">
            <a:avLst/>
          </a:prstGeom>
        </p:spPr>
      </p:pic>
      <p:sp>
        <p:nvSpPr>
          <p:cNvPr id="6" name="Shape 3"/>
          <p:cNvSpPr/>
          <p:nvPr/>
        </p:nvSpPr>
        <p:spPr>
          <a:xfrm>
            <a:off x="594360" y="1810512"/>
            <a:ext cx="100584" cy="100584"/>
          </a:xfrm>
          <a:prstGeom prst="ellipse">
            <a:avLst/>
          </a:prstGeom>
          <a:solidFill>
            <a:srgbClr val="F0C04A"/>
          </a:solidFill>
          <a:ln/>
        </p:spPr>
      </p:sp>
      <p:sp>
        <p:nvSpPr>
          <p:cNvPr id="7" name="Text 4"/>
          <p:cNvSpPr/>
          <p:nvPr/>
        </p:nvSpPr>
        <p:spPr>
          <a:xfrm>
            <a:off x="822960" y="1664208"/>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Platform-wide stats</a:t>
            </a:r>
            <a:endParaRPr lang="en-US" sz="1350" dirty="0"/>
          </a:p>
        </p:txBody>
      </p:sp>
      <p:sp>
        <p:nvSpPr>
          <p:cNvPr id="8" name="Text 5"/>
          <p:cNvSpPr/>
          <p:nvPr/>
        </p:nvSpPr>
        <p:spPr>
          <a:xfrm>
            <a:off x="822960" y="1956816"/>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Lost, found, resolved counts and total registered users.</a:t>
            </a:r>
            <a:endParaRPr lang="en-US" sz="1100" dirty="0"/>
          </a:p>
        </p:txBody>
      </p:sp>
      <p:sp>
        <p:nvSpPr>
          <p:cNvPr id="9" name="Shape 6"/>
          <p:cNvSpPr/>
          <p:nvPr/>
        </p:nvSpPr>
        <p:spPr>
          <a:xfrm>
            <a:off x="594360" y="2651760"/>
            <a:ext cx="100584" cy="100584"/>
          </a:xfrm>
          <a:prstGeom prst="ellipse">
            <a:avLst/>
          </a:prstGeom>
          <a:solidFill>
            <a:srgbClr val="F0C04A"/>
          </a:solidFill>
          <a:ln/>
        </p:spPr>
      </p:sp>
      <p:sp>
        <p:nvSpPr>
          <p:cNvPr id="10" name="Text 7"/>
          <p:cNvSpPr/>
          <p:nvPr/>
        </p:nvSpPr>
        <p:spPr>
          <a:xfrm>
            <a:off x="822960" y="2505456"/>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Report moderation</a:t>
            </a:r>
            <a:endParaRPr lang="en-US" sz="1350" dirty="0"/>
          </a:p>
        </p:txBody>
      </p:sp>
      <p:sp>
        <p:nvSpPr>
          <p:cNvPr id="11" name="Text 8"/>
          <p:cNvSpPr/>
          <p:nvPr/>
        </p:nvSpPr>
        <p:spPr>
          <a:xfrm>
            <a:off x="822960" y="2798064"/>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Approve, resolve, or delete any item from one table.</a:t>
            </a:r>
            <a:endParaRPr lang="en-US" sz="1100" dirty="0"/>
          </a:p>
        </p:txBody>
      </p:sp>
      <p:sp>
        <p:nvSpPr>
          <p:cNvPr id="12" name="Shape 9"/>
          <p:cNvSpPr/>
          <p:nvPr/>
        </p:nvSpPr>
        <p:spPr>
          <a:xfrm>
            <a:off x="594360" y="3493008"/>
            <a:ext cx="100584" cy="100584"/>
          </a:xfrm>
          <a:prstGeom prst="ellipse">
            <a:avLst/>
          </a:prstGeom>
          <a:solidFill>
            <a:srgbClr val="F0C04A"/>
          </a:solidFill>
          <a:ln/>
        </p:spPr>
      </p:sp>
      <p:sp>
        <p:nvSpPr>
          <p:cNvPr id="13" name="Text 10"/>
          <p:cNvSpPr/>
          <p:nvPr/>
        </p:nvSpPr>
        <p:spPr>
          <a:xfrm>
            <a:off x="822960" y="3346704"/>
            <a:ext cx="4023360" cy="292608"/>
          </a:xfrm>
          <a:prstGeom prst="rect">
            <a:avLst/>
          </a:prstGeom>
          <a:noFill/>
          <a:ln/>
        </p:spPr>
        <p:txBody>
          <a:bodyPr wrap="square" rtlCol="0" anchor="ctr"/>
          <a:lstStyle/>
          <a:p>
            <a:pPr marL="0" indent="0">
              <a:buNone/>
            </a:pPr>
            <a:r>
              <a:rPr lang="en-US" sz="1350" b="1" dirty="0">
                <a:solidFill>
                  <a:srgbClr val="F0EFF5"/>
                </a:solidFill>
                <a:latin typeface="Calibri" pitchFamily="34" charset="0"/>
                <a:ea typeface="Calibri" pitchFamily="34" charset="-122"/>
                <a:cs typeface="Calibri" pitchFamily="34" charset="-120"/>
              </a:rPr>
              <a:t>CSV export</a:t>
            </a:r>
            <a:endParaRPr lang="en-US" sz="1350" dirty="0"/>
          </a:p>
        </p:txBody>
      </p:sp>
      <p:sp>
        <p:nvSpPr>
          <p:cNvPr id="14" name="Text 11"/>
          <p:cNvSpPr/>
          <p:nvPr/>
        </p:nvSpPr>
        <p:spPr>
          <a:xfrm>
            <a:off x="822960" y="3639312"/>
            <a:ext cx="4023360" cy="502920"/>
          </a:xfrm>
          <a:prstGeom prst="rect">
            <a:avLst/>
          </a:prstGeom>
          <a:noFill/>
          <a:ln/>
        </p:spPr>
        <p:txBody>
          <a:bodyPr wrap="square" rtlCol="0" anchor="ctr"/>
          <a:lstStyle/>
          <a:p>
            <a:pPr marL="0" indent="0">
              <a:lnSpc>
                <a:spcPct val="115000"/>
              </a:lnSpc>
              <a:buNone/>
            </a:pPr>
            <a:r>
              <a:rPr lang="en-US" sz="1100" dirty="0">
                <a:solidFill>
                  <a:srgbClr val="9A9AB5"/>
                </a:solidFill>
                <a:latin typeface="Calibri" pitchFamily="34" charset="0"/>
                <a:ea typeface="Calibri" pitchFamily="34" charset="-122"/>
                <a:cs typeface="Calibri" pitchFamily="34" charset="-120"/>
              </a:rPr>
              <a:t>Pull the full report list for offline record-keeping.</a:t>
            </a:r>
            <a:endParaRPr lang="en-US" sz="110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16"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Challenges &amp; Solutions</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Two issues called out in the project report, and how they were resolved</a:t>
            </a:r>
            <a:endParaRPr lang="en-US" sz="1400" dirty="0"/>
          </a:p>
        </p:txBody>
      </p:sp>
      <p:sp>
        <p:nvSpPr>
          <p:cNvPr id="4" name="Shape 2"/>
          <p:cNvSpPr/>
          <p:nvPr/>
        </p:nvSpPr>
        <p:spPr>
          <a:xfrm>
            <a:off x="548640" y="1691640"/>
            <a:ext cx="5349240" cy="3931920"/>
          </a:xfrm>
          <a:prstGeom prst="roundRect">
            <a:avLst>
              <a:gd name="adj" fmla="val 2093"/>
            </a:avLst>
          </a:prstGeom>
          <a:solidFill>
            <a:srgbClr val="13131A"/>
          </a:solidFill>
          <a:ln w="12700">
            <a:solidFill>
              <a:srgbClr val="2A2A38"/>
            </a:solidFill>
            <a:prstDash val="solid"/>
          </a:ln>
        </p:spPr>
      </p:sp>
      <p:sp>
        <p:nvSpPr>
          <p:cNvPr id="5" name="Text 3"/>
          <p:cNvSpPr/>
          <p:nvPr/>
        </p:nvSpPr>
        <p:spPr>
          <a:xfrm>
            <a:off x="841248" y="1947672"/>
            <a:ext cx="4764024" cy="548640"/>
          </a:xfrm>
          <a:prstGeom prst="rect">
            <a:avLst/>
          </a:prstGeom>
          <a:noFill/>
          <a:ln/>
        </p:spPr>
        <p:txBody>
          <a:bodyPr wrap="square" rtlCol="0" anchor="ctr"/>
          <a:lstStyle/>
          <a:p>
            <a:pPr marL="0" indent="0">
              <a:buNone/>
            </a:pPr>
            <a:r>
              <a:rPr lang="en-US" sz="1500" b="1" dirty="0">
                <a:solidFill>
                  <a:srgbClr val="F0EFF5"/>
                </a:solidFill>
                <a:latin typeface="Calibri" pitchFamily="34" charset="0"/>
                <a:ea typeface="Calibri" pitchFamily="34" charset="-122"/>
                <a:cs typeface="Calibri" pitchFamily="34" charset="-120"/>
              </a:rPr>
              <a:t>Securing the PHP–MySQL connection</a:t>
            </a:r>
            <a:endParaRPr lang="en-US" sz="1500" dirty="0"/>
          </a:p>
        </p:txBody>
      </p:sp>
      <p:sp>
        <p:nvSpPr>
          <p:cNvPr id="6" name="Shape 4"/>
          <p:cNvSpPr/>
          <p:nvPr/>
        </p:nvSpPr>
        <p:spPr>
          <a:xfrm>
            <a:off x="841248" y="2651760"/>
            <a:ext cx="384048" cy="384048"/>
          </a:xfrm>
          <a:prstGeom prst="ellipse">
            <a:avLst/>
          </a:prstGeom>
          <a:solidFill>
            <a:srgbClr val="1C1C28"/>
          </a:solidFill>
          <a:ln w="12700">
            <a:solidFill>
              <a:srgbClr val="FF6B6B"/>
            </a:solidFill>
            <a:prstDash val="solid"/>
          </a:ln>
        </p:spPr>
      </p:sp>
      <p:pic>
        <p:nvPicPr>
          <p:cNvPr id="7" name="Image 0" descr="/home/claude/pptx/icons/bug.png"/>
          <p:cNvPicPr>
            <a:picLocks noChangeAspect="1"/>
          </p:cNvPicPr>
          <p:nvPr/>
        </p:nvPicPr>
        <p:blipFill>
          <a:blip r:embed="rId3"/>
          <a:stretch>
            <a:fillRect/>
          </a:stretch>
        </p:blipFill>
        <p:spPr>
          <a:xfrm>
            <a:off x="932688" y="2743200"/>
            <a:ext cx="201168" cy="201168"/>
          </a:xfrm>
          <a:prstGeom prst="rect">
            <a:avLst/>
          </a:prstGeom>
        </p:spPr>
      </p:pic>
      <p:sp>
        <p:nvSpPr>
          <p:cNvPr id="8" name="Text 5"/>
          <p:cNvSpPr/>
          <p:nvPr/>
        </p:nvSpPr>
        <p:spPr>
          <a:xfrm>
            <a:off x="1335024" y="2697480"/>
            <a:ext cx="2743200" cy="320040"/>
          </a:xfrm>
          <a:prstGeom prst="rect">
            <a:avLst/>
          </a:prstGeom>
          <a:noFill/>
          <a:ln/>
        </p:spPr>
        <p:txBody>
          <a:bodyPr wrap="square" rtlCol="0" anchor="ctr"/>
          <a:lstStyle/>
          <a:p>
            <a:pPr marL="0" indent="0">
              <a:buNone/>
            </a:pPr>
            <a:r>
              <a:rPr lang="en-US" sz="1200" b="1" dirty="0">
                <a:solidFill>
                  <a:srgbClr val="FF6B6B"/>
                </a:solidFill>
                <a:latin typeface="Calibri" pitchFamily="34" charset="0"/>
                <a:ea typeface="Calibri" pitchFamily="34" charset="-122"/>
                <a:cs typeface="Calibri" pitchFamily="34" charset="-120"/>
              </a:rPr>
              <a:t>Challenge</a:t>
            </a:r>
            <a:endParaRPr lang="en-US" sz="1200" dirty="0"/>
          </a:p>
        </p:txBody>
      </p:sp>
      <p:sp>
        <p:nvSpPr>
          <p:cNvPr id="9" name="Text 6"/>
          <p:cNvSpPr/>
          <p:nvPr/>
        </p:nvSpPr>
        <p:spPr>
          <a:xfrm>
            <a:off x="841248" y="3136392"/>
            <a:ext cx="4764024" cy="1005840"/>
          </a:xfrm>
          <a:prstGeom prst="rect">
            <a:avLst/>
          </a:prstGeom>
          <a:noFill/>
          <a:ln/>
        </p:spPr>
        <p:txBody>
          <a:bodyPr wrap="square" rtlCol="0" anchor="ctr"/>
          <a:lstStyle/>
          <a:p>
            <a:pPr marL="0" indent="0">
              <a:lnSpc>
                <a:spcPct val="125000"/>
              </a:lnSpc>
              <a:buNone/>
            </a:pPr>
            <a:r>
              <a:rPr lang="en-US" sz="1150" dirty="0">
                <a:solidFill>
                  <a:srgbClr val="9A9AB5"/>
                </a:solidFill>
                <a:latin typeface="Calibri" pitchFamily="34" charset="0"/>
                <a:ea typeface="Calibri" pitchFamily="34" charset="-122"/>
                <a:cs typeface="Calibri" pitchFamily="34" charset="-120"/>
              </a:rPr>
              <a:t>Preventing SQL injection while connecting the backend to the database was the top priority during development.</a:t>
            </a:r>
            <a:endParaRPr lang="en-US" sz="1150" dirty="0"/>
          </a:p>
        </p:txBody>
      </p:sp>
      <p:sp>
        <p:nvSpPr>
          <p:cNvPr id="10" name="Shape 7"/>
          <p:cNvSpPr/>
          <p:nvPr/>
        </p:nvSpPr>
        <p:spPr>
          <a:xfrm>
            <a:off x="841248" y="4297680"/>
            <a:ext cx="384048" cy="384048"/>
          </a:xfrm>
          <a:prstGeom prst="ellipse">
            <a:avLst/>
          </a:prstGeom>
          <a:solidFill>
            <a:srgbClr val="1C1C28"/>
          </a:solidFill>
          <a:ln w="12700">
            <a:solidFill>
              <a:srgbClr val="4ADE80"/>
            </a:solidFill>
            <a:prstDash val="solid"/>
          </a:ln>
        </p:spPr>
      </p:sp>
      <p:pic>
        <p:nvPicPr>
          <p:cNvPr id="11" name="Image 1" descr="/home/claude/pptx/icons/check.png"/>
          <p:cNvPicPr>
            <a:picLocks noChangeAspect="1"/>
          </p:cNvPicPr>
          <p:nvPr/>
        </p:nvPicPr>
        <p:blipFill>
          <a:blip r:embed="rId4"/>
          <a:stretch>
            <a:fillRect/>
          </a:stretch>
        </p:blipFill>
        <p:spPr>
          <a:xfrm>
            <a:off x="932688" y="4389120"/>
            <a:ext cx="201168" cy="201168"/>
          </a:xfrm>
          <a:prstGeom prst="rect">
            <a:avLst/>
          </a:prstGeom>
        </p:spPr>
      </p:pic>
      <p:sp>
        <p:nvSpPr>
          <p:cNvPr id="12" name="Text 8"/>
          <p:cNvSpPr/>
          <p:nvPr/>
        </p:nvSpPr>
        <p:spPr>
          <a:xfrm>
            <a:off x="1335024" y="4343400"/>
            <a:ext cx="2743200" cy="320040"/>
          </a:xfrm>
          <a:prstGeom prst="rect">
            <a:avLst/>
          </a:prstGeom>
          <a:noFill/>
          <a:ln/>
        </p:spPr>
        <p:txBody>
          <a:bodyPr wrap="square" rtlCol="0" anchor="ctr"/>
          <a:lstStyle/>
          <a:p>
            <a:pPr marL="0" indent="0">
              <a:buNone/>
            </a:pPr>
            <a:r>
              <a:rPr lang="en-US" sz="1200" b="1" dirty="0">
                <a:solidFill>
                  <a:srgbClr val="4ADE80"/>
                </a:solidFill>
                <a:latin typeface="Calibri" pitchFamily="34" charset="0"/>
                <a:ea typeface="Calibri" pitchFamily="34" charset="-122"/>
                <a:cs typeface="Calibri" pitchFamily="34" charset="-120"/>
              </a:rPr>
              <a:t>Solution</a:t>
            </a:r>
            <a:endParaRPr lang="en-US" sz="1200" dirty="0"/>
          </a:p>
        </p:txBody>
      </p:sp>
      <p:sp>
        <p:nvSpPr>
          <p:cNvPr id="13" name="Text 9"/>
          <p:cNvSpPr/>
          <p:nvPr/>
        </p:nvSpPr>
        <p:spPr>
          <a:xfrm>
            <a:off x="841248" y="4782312"/>
            <a:ext cx="4764024" cy="914400"/>
          </a:xfrm>
          <a:prstGeom prst="rect">
            <a:avLst/>
          </a:prstGeom>
          <a:noFill/>
          <a:ln/>
        </p:spPr>
        <p:txBody>
          <a:bodyPr wrap="square" rtlCol="0" anchor="ctr"/>
          <a:lstStyle/>
          <a:p>
            <a:pPr marL="0" indent="0">
              <a:lnSpc>
                <a:spcPct val="125000"/>
              </a:lnSpc>
              <a:buNone/>
            </a:pPr>
            <a:r>
              <a:rPr lang="en-US" sz="1150" dirty="0">
                <a:solidFill>
                  <a:srgbClr val="F0EFF5"/>
                </a:solidFill>
                <a:latin typeface="Calibri" pitchFamily="34" charset="0"/>
                <a:ea typeface="Calibri" pitchFamily="34" charset="-122"/>
                <a:cs typeface="Calibri" pitchFamily="34" charset="-120"/>
              </a:rPr>
              <a:t>Resolved by using PHP prepared statements (mysqli bind_param) for every database query, with no raw string concatenation.</a:t>
            </a:r>
            <a:endParaRPr lang="en-US" sz="1150" dirty="0"/>
          </a:p>
        </p:txBody>
      </p:sp>
      <p:sp>
        <p:nvSpPr>
          <p:cNvPr id="14" name="Shape 10"/>
          <p:cNvSpPr/>
          <p:nvPr/>
        </p:nvSpPr>
        <p:spPr>
          <a:xfrm>
            <a:off x="6172200" y="1691640"/>
            <a:ext cx="5349240" cy="3931920"/>
          </a:xfrm>
          <a:prstGeom prst="roundRect">
            <a:avLst>
              <a:gd name="adj" fmla="val 2093"/>
            </a:avLst>
          </a:prstGeom>
          <a:solidFill>
            <a:srgbClr val="13131A"/>
          </a:solidFill>
          <a:ln w="12700">
            <a:solidFill>
              <a:srgbClr val="2A2A38"/>
            </a:solidFill>
            <a:prstDash val="solid"/>
          </a:ln>
        </p:spPr>
      </p:sp>
      <p:sp>
        <p:nvSpPr>
          <p:cNvPr id="15" name="Text 11"/>
          <p:cNvSpPr/>
          <p:nvPr/>
        </p:nvSpPr>
        <p:spPr>
          <a:xfrm>
            <a:off x="6464808" y="1947672"/>
            <a:ext cx="4764024" cy="548640"/>
          </a:xfrm>
          <a:prstGeom prst="rect">
            <a:avLst/>
          </a:prstGeom>
          <a:noFill/>
          <a:ln/>
        </p:spPr>
        <p:txBody>
          <a:bodyPr wrap="square" rtlCol="0" anchor="ctr"/>
          <a:lstStyle/>
          <a:p>
            <a:pPr marL="0" indent="0">
              <a:buNone/>
            </a:pPr>
            <a:r>
              <a:rPr lang="en-US" sz="1500" b="1" dirty="0">
                <a:solidFill>
                  <a:srgbClr val="F0EFF5"/>
                </a:solidFill>
                <a:latin typeface="Calibri" pitchFamily="34" charset="0"/>
                <a:ea typeface="Calibri" pitchFamily="34" charset="-122"/>
                <a:cs typeface="Calibri" pitchFamily="34" charset="-120"/>
              </a:rPr>
              <a:t>Inconsistent location data</a:t>
            </a:r>
            <a:endParaRPr lang="en-US" sz="1500" dirty="0"/>
          </a:p>
        </p:txBody>
      </p:sp>
      <p:sp>
        <p:nvSpPr>
          <p:cNvPr id="16" name="Shape 12"/>
          <p:cNvSpPr/>
          <p:nvPr/>
        </p:nvSpPr>
        <p:spPr>
          <a:xfrm>
            <a:off x="6464808" y="2651760"/>
            <a:ext cx="384048" cy="384048"/>
          </a:xfrm>
          <a:prstGeom prst="ellipse">
            <a:avLst/>
          </a:prstGeom>
          <a:solidFill>
            <a:srgbClr val="1C1C28"/>
          </a:solidFill>
          <a:ln w="12700">
            <a:solidFill>
              <a:srgbClr val="FF6B6B"/>
            </a:solidFill>
            <a:prstDash val="solid"/>
          </a:ln>
        </p:spPr>
      </p:sp>
      <p:pic>
        <p:nvPicPr>
          <p:cNvPr id="17" name="Image 2" descr="/home/claude/pptx/icons/bug.png"/>
          <p:cNvPicPr>
            <a:picLocks noChangeAspect="1"/>
          </p:cNvPicPr>
          <p:nvPr/>
        </p:nvPicPr>
        <p:blipFill>
          <a:blip r:embed="rId3"/>
          <a:stretch>
            <a:fillRect/>
          </a:stretch>
        </p:blipFill>
        <p:spPr>
          <a:xfrm>
            <a:off x="6556248" y="2743200"/>
            <a:ext cx="201168" cy="201168"/>
          </a:xfrm>
          <a:prstGeom prst="rect">
            <a:avLst/>
          </a:prstGeom>
        </p:spPr>
      </p:pic>
      <p:sp>
        <p:nvSpPr>
          <p:cNvPr id="18" name="Text 13"/>
          <p:cNvSpPr/>
          <p:nvPr/>
        </p:nvSpPr>
        <p:spPr>
          <a:xfrm>
            <a:off x="6958584" y="2697480"/>
            <a:ext cx="2743200" cy="320040"/>
          </a:xfrm>
          <a:prstGeom prst="rect">
            <a:avLst/>
          </a:prstGeom>
          <a:noFill/>
          <a:ln/>
        </p:spPr>
        <p:txBody>
          <a:bodyPr wrap="square" rtlCol="0" anchor="ctr"/>
          <a:lstStyle/>
          <a:p>
            <a:pPr marL="0" indent="0">
              <a:buNone/>
            </a:pPr>
            <a:r>
              <a:rPr lang="en-US" sz="1200" b="1" dirty="0">
                <a:solidFill>
                  <a:srgbClr val="FF6B6B"/>
                </a:solidFill>
                <a:latin typeface="Calibri" pitchFamily="34" charset="0"/>
                <a:ea typeface="Calibri" pitchFamily="34" charset="-122"/>
                <a:cs typeface="Calibri" pitchFamily="34" charset="-120"/>
              </a:rPr>
              <a:t>Challenge</a:t>
            </a:r>
            <a:endParaRPr lang="en-US" sz="1200" dirty="0"/>
          </a:p>
        </p:txBody>
      </p:sp>
      <p:sp>
        <p:nvSpPr>
          <p:cNvPr id="19" name="Text 14"/>
          <p:cNvSpPr/>
          <p:nvPr/>
        </p:nvSpPr>
        <p:spPr>
          <a:xfrm>
            <a:off x="6464808" y="3136392"/>
            <a:ext cx="4764024" cy="1005840"/>
          </a:xfrm>
          <a:prstGeom prst="rect">
            <a:avLst/>
          </a:prstGeom>
          <a:noFill/>
          <a:ln/>
        </p:spPr>
        <p:txBody>
          <a:bodyPr wrap="square" rtlCol="0" anchor="ctr"/>
          <a:lstStyle/>
          <a:p>
            <a:pPr marL="0" indent="0">
              <a:lnSpc>
                <a:spcPct val="125000"/>
              </a:lnSpc>
              <a:buNone/>
            </a:pPr>
            <a:r>
              <a:rPr lang="en-US" sz="1150" dirty="0">
                <a:solidFill>
                  <a:srgbClr val="9A9AB5"/>
                </a:solidFill>
                <a:latin typeface="Calibri" pitchFamily="34" charset="0"/>
                <a:ea typeface="Calibri" pitchFamily="34" charset="-122"/>
                <a:cs typeface="Calibri" pitchFamily="34" charset="-120"/>
              </a:rPr>
              <a:t>Free-text location fields led to inconsistent, hard-to-search entries (e.g. "Library", "lib", "Central Library").</a:t>
            </a:r>
            <a:endParaRPr lang="en-US" sz="1150" dirty="0"/>
          </a:p>
        </p:txBody>
      </p:sp>
      <p:sp>
        <p:nvSpPr>
          <p:cNvPr id="20" name="Shape 15"/>
          <p:cNvSpPr/>
          <p:nvPr/>
        </p:nvSpPr>
        <p:spPr>
          <a:xfrm>
            <a:off x="6464808" y="4297680"/>
            <a:ext cx="384048" cy="384048"/>
          </a:xfrm>
          <a:prstGeom prst="ellipse">
            <a:avLst/>
          </a:prstGeom>
          <a:solidFill>
            <a:srgbClr val="1C1C28"/>
          </a:solidFill>
          <a:ln w="12700">
            <a:solidFill>
              <a:srgbClr val="4ADE80"/>
            </a:solidFill>
            <a:prstDash val="solid"/>
          </a:ln>
        </p:spPr>
      </p:sp>
      <p:pic>
        <p:nvPicPr>
          <p:cNvPr id="21" name="Image 3" descr="/home/claude/pptx/icons/check.png"/>
          <p:cNvPicPr>
            <a:picLocks noChangeAspect="1"/>
          </p:cNvPicPr>
          <p:nvPr/>
        </p:nvPicPr>
        <p:blipFill>
          <a:blip r:embed="rId4"/>
          <a:stretch>
            <a:fillRect/>
          </a:stretch>
        </p:blipFill>
        <p:spPr>
          <a:xfrm>
            <a:off x="6556248" y="4389120"/>
            <a:ext cx="201168" cy="201168"/>
          </a:xfrm>
          <a:prstGeom prst="rect">
            <a:avLst/>
          </a:prstGeom>
        </p:spPr>
      </p:pic>
      <p:sp>
        <p:nvSpPr>
          <p:cNvPr id="22" name="Text 16"/>
          <p:cNvSpPr/>
          <p:nvPr/>
        </p:nvSpPr>
        <p:spPr>
          <a:xfrm>
            <a:off x="6958584" y="4343400"/>
            <a:ext cx="2743200" cy="320040"/>
          </a:xfrm>
          <a:prstGeom prst="rect">
            <a:avLst/>
          </a:prstGeom>
          <a:noFill/>
          <a:ln/>
        </p:spPr>
        <p:txBody>
          <a:bodyPr wrap="square" rtlCol="0" anchor="ctr"/>
          <a:lstStyle/>
          <a:p>
            <a:pPr marL="0" indent="0">
              <a:buNone/>
            </a:pPr>
            <a:r>
              <a:rPr lang="en-US" sz="1200" b="1" dirty="0">
                <a:solidFill>
                  <a:srgbClr val="4ADE80"/>
                </a:solidFill>
                <a:latin typeface="Calibri" pitchFamily="34" charset="0"/>
                <a:ea typeface="Calibri" pitchFamily="34" charset="-122"/>
                <a:cs typeface="Calibri" pitchFamily="34" charset="-120"/>
              </a:rPr>
              <a:t>Solution</a:t>
            </a:r>
            <a:endParaRPr lang="en-US" sz="1200" dirty="0"/>
          </a:p>
        </p:txBody>
      </p:sp>
      <p:sp>
        <p:nvSpPr>
          <p:cNvPr id="23" name="Text 17"/>
          <p:cNvSpPr/>
          <p:nvPr/>
        </p:nvSpPr>
        <p:spPr>
          <a:xfrm>
            <a:off x="6464808" y="4782312"/>
            <a:ext cx="4764024" cy="914400"/>
          </a:xfrm>
          <a:prstGeom prst="rect">
            <a:avLst/>
          </a:prstGeom>
          <a:noFill/>
          <a:ln/>
        </p:spPr>
        <p:txBody>
          <a:bodyPr wrap="square" rtlCol="0" anchor="ctr"/>
          <a:lstStyle/>
          <a:p>
            <a:pPr marL="0" indent="0">
              <a:lnSpc>
                <a:spcPct val="125000"/>
              </a:lnSpc>
              <a:buNone/>
            </a:pPr>
            <a:r>
              <a:rPr lang="en-US" sz="1150" dirty="0">
                <a:solidFill>
                  <a:srgbClr val="F0EFF5"/>
                </a:solidFill>
                <a:latin typeface="Calibri" pitchFamily="34" charset="0"/>
                <a:ea typeface="Calibri" pitchFamily="34" charset="-122"/>
                <a:cs typeface="Calibri" pitchFamily="34" charset="-120"/>
              </a:rPr>
              <a:t>Standardized by replacing text inputs with predefined HTML dropdown menus for campus locations.</a:t>
            </a:r>
            <a:endParaRPr lang="en-US" sz="1150" dirty="0"/>
          </a:p>
        </p:txBody>
      </p:sp>
      <p:sp>
        <p:nvSpPr>
          <p:cNvPr id="24" name="Text 18"/>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25" name="Text 19"/>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Security &amp; Data Handling</a:t>
            </a:r>
            <a:endParaRPr lang="en-US" sz="3200" dirty="0"/>
          </a:p>
        </p:txBody>
      </p:sp>
      <p:sp>
        <p:nvSpPr>
          <p:cNvPr id="3" name="Shape 1"/>
          <p:cNvSpPr/>
          <p:nvPr/>
        </p:nvSpPr>
        <p:spPr>
          <a:xfrm>
            <a:off x="548640" y="1691640"/>
            <a:ext cx="5349240" cy="1874520"/>
          </a:xfrm>
          <a:prstGeom prst="roundRect">
            <a:avLst>
              <a:gd name="adj" fmla="val 4390"/>
            </a:avLst>
          </a:prstGeom>
          <a:solidFill>
            <a:srgbClr val="13131A"/>
          </a:solidFill>
          <a:ln w="12700">
            <a:solidFill>
              <a:srgbClr val="2A2A38"/>
            </a:solidFill>
            <a:prstDash val="solid"/>
          </a:ln>
        </p:spPr>
      </p:sp>
      <p:sp>
        <p:nvSpPr>
          <p:cNvPr id="4" name="Shape 2"/>
          <p:cNvSpPr/>
          <p:nvPr/>
        </p:nvSpPr>
        <p:spPr>
          <a:xfrm>
            <a:off x="786384" y="1929384"/>
            <a:ext cx="548640" cy="548640"/>
          </a:xfrm>
          <a:prstGeom prst="ellipse">
            <a:avLst/>
          </a:prstGeom>
          <a:solidFill>
            <a:srgbClr val="1C1C28"/>
          </a:solidFill>
          <a:ln w="12700">
            <a:solidFill>
              <a:srgbClr val="F0C04A"/>
            </a:solidFill>
            <a:prstDash val="solid"/>
          </a:ln>
        </p:spPr>
      </p:sp>
      <p:pic>
        <p:nvPicPr>
          <p:cNvPr id="5" name="Image 0" descr="/home/claude/pptx/icons/lock.png"/>
          <p:cNvPicPr>
            <a:picLocks noChangeAspect="1"/>
          </p:cNvPicPr>
          <p:nvPr/>
        </p:nvPicPr>
        <p:blipFill>
          <a:blip r:embed="rId3"/>
          <a:stretch>
            <a:fillRect/>
          </a:stretch>
        </p:blipFill>
        <p:spPr>
          <a:xfrm>
            <a:off x="923544" y="2066544"/>
            <a:ext cx="274320" cy="274320"/>
          </a:xfrm>
          <a:prstGeom prst="rect">
            <a:avLst/>
          </a:prstGeom>
        </p:spPr>
      </p:pic>
      <p:sp>
        <p:nvSpPr>
          <p:cNvPr id="6" name="Text 3"/>
          <p:cNvSpPr/>
          <p:nvPr/>
        </p:nvSpPr>
        <p:spPr>
          <a:xfrm>
            <a:off x="1508760" y="1947672"/>
            <a:ext cx="4160520" cy="365760"/>
          </a:xfrm>
          <a:prstGeom prst="rect">
            <a:avLst/>
          </a:prstGeom>
          <a:noFill/>
          <a:ln/>
        </p:spPr>
        <p:txBody>
          <a:bodyPr wrap="square" rtlCol="0" anchor="ctr"/>
          <a:lstStyle/>
          <a:p>
            <a:pPr marL="0" indent="0">
              <a:buNone/>
            </a:pPr>
            <a:r>
              <a:rPr lang="en-US" sz="1450" b="1" dirty="0">
                <a:solidFill>
                  <a:srgbClr val="F0EFF5"/>
                </a:solidFill>
                <a:latin typeface="Calibri" pitchFamily="34" charset="0"/>
                <a:ea typeface="Calibri" pitchFamily="34" charset="-122"/>
                <a:cs typeface="Calibri" pitchFamily="34" charset="-120"/>
              </a:rPr>
              <a:t>Password Hashing</a:t>
            </a:r>
            <a:endParaRPr lang="en-US" sz="1450" dirty="0"/>
          </a:p>
        </p:txBody>
      </p:sp>
      <p:sp>
        <p:nvSpPr>
          <p:cNvPr id="7" name="Text 4"/>
          <p:cNvSpPr/>
          <p:nvPr/>
        </p:nvSpPr>
        <p:spPr>
          <a:xfrm>
            <a:off x="822960" y="2606040"/>
            <a:ext cx="4800600" cy="822960"/>
          </a:xfrm>
          <a:prstGeom prst="rect">
            <a:avLst/>
          </a:prstGeom>
          <a:noFill/>
          <a:ln/>
        </p:spPr>
        <p:txBody>
          <a:bodyPr wrap="square" rtlCol="0" anchor="ctr"/>
          <a:lstStyle/>
          <a:p>
            <a:pPr marL="0" indent="0">
              <a:lnSpc>
                <a:spcPct val="125000"/>
              </a:lnSpc>
              <a:buNone/>
            </a:pPr>
            <a:r>
              <a:rPr lang="en-US" sz="1150" dirty="0">
                <a:solidFill>
                  <a:srgbClr val="9A9AB5"/>
                </a:solidFill>
                <a:latin typeface="Calibri" pitchFamily="34" charset="0"/>
                <a:ea typeface="Calibri" pitchFamily="34" charset="-122"/>
                <a:cs typeface="Calibri" pitchFamily="34" charset="-120"/>
              </a:rPr>
              <a:t>bcrypt via password_hash() — passwords are never stored or compared in plaintext.</a:t>
            </a:r>
            <a:endParaRPr lang="en-US" sz="1150" dirty="0"/>
          </a:p>
        </p:txBody>
      </p:sp>
      <p:sp>
        <p:nvSpPr>
          <p:cNvPr id="8" name="Shape 5"/>
          <p:cNvSpPr/>
          <p:nvPr/>
        </p:nvSpPr>
        <p:spPr>
          <a:xfrm>
            <a:off x="6172200" y="1691640"/>
            <a:ext cx="5349240" cy="1874520"/>
          </a:xfrm>
          <a:prstGeom prst="roundRect">
            <a:avLst>
              <a:gd name="adj" fmla="val 4390"/>
            </a:avLst>
          </a:prstGeom>
          <a:solidFill>
            <a:srgbClr val="13131A"/>
          </a:solidFill>
          <a:ln w="12700">
            <a:solidFill>
              <a:srgbClr val="2A2A38"/>
            </a:solidFill>
            <a:prstDash val="solid"/>
          </a:ln>
        </p:spPr>
      </p:sp>
      <p:sp>
        <p:nvSpPr>
          <p:cNvPr id="9" name="Shape 6"/>
          <p:cNvSpPr/>
          <p:nvPr/>
        </p:nvSpPr>
        <p:spPr>
          <a:xfrm>
            <a:off x="6409944" y="1929384"/>
            <a:ext cx="548640" cy="548640"/>
          </a:xfrm>
          <a:prstGeom prst="ellipse">
            <a:avLst/>
          </a:prstGeom>
          <a:solidFill>
            <a:srgbClr val="1C1C28"/>
          </a:solidFill>
          <a:ln w="12700">
            <a:solidFill>
              <a:srgbClr val="F0C04A"/>
            </a:solidFill>
            <a:prstDash val="solid"/>
          </a:ln>
        </p:spPr>
      </p:sp>
      <p:pic>
        <p:nvPicPr>
          <p:cNvPr id="10" name="Image 1" descr="/home/claude/pptx/icons/shield.png"/>
          <p:cNvPicPr>
            <a:picLocks noChangeAspect="1"/>
          </p:cNvPicPr>
          <p:nvPr/>
        </p:nvPicPr>
        <p:blipFill>
          <a:blip r:embed="rId4"/>
          <a:stretch>
            <a:fillRect/>
          </a:stretch>
        </p:blipFill>
        <p:spPr>
          <a:xfrm>
            <a:off x="6547104" y="2066544"/>
            <a:ext cx="274320" cy="274320"/>
          </a:xfrm>
          <a:prstGeom prst="rect">
            <a:avLst/>
          </a:prstGeom>
        </p:spPr>
      </p:pic>
      <p:sp>
        <p:nvSpPr>
          <p:cNvPr id="11" name="Text 7"/>
          <p:cNvSpPr/>
          <p:nvPr/>
        </p:nvSpPr>
        <p:spPr>
          <a:xfrm>
            <a:off x="7132320" y="1947672"/>
            <a:ext cx="4160520" cy="365760"/>
          </a:xfrm>
          <a:prstGeom prst="rect">
            <a:avLst/>
          </a:prstGeom>
          <a:noFill/>
          <a:ln/>
        </p:spPr>
        <p:txBody>
          <a:bodyPr wrap="square" rtlCol="0" anchor="ctr"/>
          <a:lstStyle/>
          <a:p>
            <a:pPr marL="0" indent="0">
              <a:buNone/>
            </a:pPr>
            <a:r>
              <a:rPr lang="en-US" sz="1450" b="1" dirty="0">
                <a:solidFill>
                  <a:srgbClr val="F0EFF5"/>
                </a:solidFill>
                <a:latin typeface="Calibri" pitchFamily="34" charset="0"/>
                <a:ea typeface="Calibri" pitchFamily="34" charset="-122"/>
                <a:cs typeface="Calibri" pitchFamily="34" charset="-120"/>
              </a:rPr>
              <a:t>Prepared Statements</a:t>
            </a:r>
            <a:endParaRPr lang="en-US" sz="1450" dirty="0"/>
          </a:p>
        </p:txBody>
      </p:sp>
      <p:sp>
        <p:nvSpPr>
          <p:cNvPr id="12" name="Text 8"/>
          <p:cNvSpPr/>
          <p:nvPr/>
        </p:nvSpPr>
        <p:spPr>
          <a:xfrm>
            <a:off x="6446520" y="2606040"/>
            <a:ext cx="4800600" cy="822960"/>
          </a:xfrm>
          <a:prstGeom prst="rect">
            <a:avLst/>
          </a:prstGeom>
          <a:noFill/>
          <a:ln/>
        </p:spPr>
        <p:txBody>
          <a:bodyPr wrap="square" rtlCol="0" anchor="ctr"/>
          <a:lstStyle/>
          <a:p>
            <a:pPr marL="0" indent="0">
              <a:lnSpc>
                <a:spcPct val="125000"/>
              </a:lnSpc>
              <a:buNone/>
            </a:pPr>
            <a:r>
              <a:rPr lang="en-US" sz="1150" dirty="0">
                <a:solidFill>
                  <a:srgbClr val="9A9AB5"/>
                </a:solidFill>
                <a:latin typeface="Calibri" pitchFamily="34" charset="0"/>
                <a:ea typeface="Calibri" pitchFamily="34" charset="-122"/>
                <a:cs typeface="Calibri" pitchFamily="34" charset="-120"/>
              </a:rPr>
              <a:t>Every query uses mysqli bind_param, closing off SQL-injection vectors.</a:t>
            </a:r>
            <a:endParaRPr lang="en-US" sz="1150" dirty="0"/>
          </a:p>
        </p:txBody>
      </p:sp>
      <p:sp>
        <p:nvSpPr>
          <p:cNvPr id="13" name="Shape 9"/>
          <p:cNvSpPr/>
          <p:nvPr/>
        </p:nvSpPr>
        <p:spPr>
          <a:xfrm>
            <a:off x="548640" y="3840480"/>
            <a:ext cx="5349240" cy="1874520"/>
          </a:xfrm>
          <a:prstGeom prst="roundRect">
            <a:avLst>
              <a:gd name="adj" fmla="val 4390"/>
            </a:avLst>
          </a:prstGeom>
          <a:solidFill>
            <a:srgbClr val="13131A"/>
          </a:solidFill>
          <a:ln w="12700">
            <a:solidFill>
              <a:srgbClr val="2A2A38"/>
            </a:solidFill>
            <a:prstDash val="solid"/>
          </a:ln>
        </p:spPr>
      </p:sp>
      <p:sp>
        <p:nvSpPr>
          <p:cNvPr id="14" name="Shape 10"/>
          <p:cNvSpPr/>
          <p:nvPr/>
        </p:nvSpPr>
        <p:spPr>
          <a:xfrm>
            <a:off x="786384" y="4078224"/>
            <a:ext cx="548640" cy="548640"/>
          </a:xfrm>
          <a:prstGeom prst="ellipse">
            <a:avLst/>
          </a:prstGeom>
          <a:solidFill>
            <a:srgbClr val="1C1C28"/>
          </a:solidFill>
          <a:ln w="12700">
            <a:solidFill>
              <a:srgbClr val="F0C04A"/>
            </a:solidFill>
            <a:prstDash val="solid"/>
          </a:ln>
        </p:spPr>
      </p:sp>
      <p:pic>
        <p:nvPicPr>
          <p:cNvPr id="15" name="Image 2" descr="/home/claude/pptx/icons/usershield.png"/>
          <p:cNvPicPr>
            <a:picLocks noChangeAspect="1"/>
          </p:cNvPicPr>
          <p:nvPr/>
        </p:nvPicPr>
        <p:blipFill>
          <a:blip r:embed="rId5"/>
          <a:stretch>
            <a:fillRect/>
          </a:stretch>
        </p:blipFill>
        <p:spPr>
          <a:xfrm>
            <a:off x="923544" y="4215384"/>
            <a:ext cx="274320" cy="274320"/>
          </a:xfrm>
          <a:prstGeom prst="rect">
            <a:avLst/>
          </a:prstGeom>
        </p:spPr>
      </p:pic>
      <p:sp>
        <p:nvSpPr>
          <p:cNvPr id="16" name="Text 11"/>
          <p:cNvSpPr/>
          <p:nvPr/>
        </p:nvSpPr>
        <p:spPr>
          <a:xfrm>
            <a:off x="1508760" y="4096512"/>
            <a:ext cx="4160520" cy="365760"/>
          </a:xfrm>
          <a:prstGeom prst="rect">
            <a:avLst/>
          </a:prstGeom>
          <a:noFill/>
          <a:ln/>
        </p:spPr>
        <p:txBody>
          <a:bodyPr wrap="square" rtlCol="0" anchor="ctr"/>
          <a:lstStyle/>
          <a:p>
            <a:pPr marL="0" indent="0">
              <a:buNone/>
            </a:pPr>
            <a:r>
              <a:rPr lang="en-US" sz="1450" b="1" dirty="0">
                <a:solidFill>
                  <a:srgbClr val="F0EFF5"/>
                </a:solidFill>
                <a:latin typeface="Calibri" pitchFamily="34" charset="0"/>
                <a:ea typeface="Calibri" pitchFamily="34" charset="-122"/>
                <a:cs typeface="Calibri" pitchFamily="34" charset="-120"/>
              </a:rPr>
              <a:t>Server-Side Role Checks</a:t>
            </a:r>
            <a:endParaRPr lang="en-US" sz="1450" dirty="0"/>
          </a:p>
        </p:txBody>
      </p:sp>
      <p:sp>
        <p:nvSpPr>
          <p:cNvPr id="17" name="Text 12"/>
          <p:cNvSpPr/>
          <p:nvPr/>
        </p:nvSpPr>
        <p:spPr>
          <a:xfrm>
            <a:off x="822960" y="4754880"/>
            <a:ext cx="4800600" cy="822960"/>
          </a:xfrm>
          <a:prstGeom prst="rect">
            <a:avLst/>
          </a:prstGeom>
          <a:noFill/>
          <a:ln/>
        </p:spPr>
        <p:txBody>
          <a:bodyPr wrap="square" rtlCol="0" anchor="ctr"/>
          <a:lstStyle/>
          <a:p>
            <a:pPr marL="0" indent="0">
              <a:lnSpc>
                <a:spcPct val="125000"/>
              </a:lnSpc>
              <a:buNone/>
            </a:pPr>
            <a:r>
              <a:rPr lang="en-US" sz="1150" dirty="0">
                <a:solidFill>
                  <a:srgbClr val="9A9AB5"/>
                </a:solidFill>
                <a:latin typeface="Calibri" pitchFamily="34" charset="0"/>
                <a:ea typeface="Calibri" pitchFamily="34" charset="-122"/>
                <a:cs typeface="Calibri" pitchFamily="34" charset="-120"/>
              </a:rPr>
              <a:t>Admin routes verify $_SESSION['user_role'] on the server, not just hidden in the UI.</a:t>
            </a:r>
            <a:endParaRPr lang="en-US" sz="1150" dirty="0"/>
          </a:p>
        </p:txBody>
      </p:sp>
      <p:sp>
        <p:nvSpPr>
          <p:cNvPr id="18" name="Shape 13"/>
          <p:cNvSpPr/>
          <p:nvPr/>
        </p:nvSpPr>
        <p:spPr>
          <a:xfrm>
            <a:off x="6172200" y="3840480"/>
            <a:ext cx="5349240" cy="1874520"/>
          </a:xfrm>
          <a:prstGeom prst="roundRect">
            <a:avLst>
              <a:gd name="adj" fmla="val 4390"/>
            </a:avLst>
          </a:prstGeom>
          <a:solidFill>
            <a:srgbClr val="13131A"/>
          </a:solidFill>
          <a:ln w="12700">
            <a:solidFill>
              <a:srgbClr val="2A2A38"/>
            </a:solidFill>
            <a:prstDash val="solid"/>
          </a:ln>
        </p:spPr>
      </p:sp>
      <p:sp>
        <p:nvSpPr>
          <p:cNvPr id="19" name="Shape 14"/>
          <p:cNvSpPr/>
          <p:nvPr/>
        </p:nvSpPr>
        <p:spPr>
          <a:xfrm>
            <a:off x="6409944" y="4078224"/>
            <a:ext cx="548640" cy="548640"/>
          </a:xfrm>
          <a:prstGeom prst="ellipse">
            <a:avLst/>
          </a:prstGeom>
          <a:solidFill>
            <a:srgbClr val="1C1C28"/>
          </a:solidFill>
          <a:ln w="12700">
            <a:solidFill>
              <a:srgbClr val="F0C04A"/>
            </a:solidFill>
            <a:prstDash val="solid"/>
          </a:ln>
        </p:spPr>
      </p:sp>
      <p:pic>
        <p:nvPicPr>
          <p:cNvPr id="20" name="Image 3" descr="/home/claude/pptx/icons/image.png"/>
          <p:cNvPicPr>
            <a:picLocks noChangeAspect="1"/>
          </p:cNvPicPr>
          <p:nvPr/>
        </p:nvPicPr>
        <p:blipFill>
          <a:blip r:embed="rId6"/>
          <a:stretch>
            <a:fillRect/>
          </a:stretch>
        </p:blipFill>
        <p:spPr>
          <a:xfrm>
            <a:off x="6547104" y="4215384"/>
            <a:ext cx="274320" cy="274320"/>
          </a:xfrm>
          <a:prstGeom prst="rect">
            <a:avLst/>
          </a:prstGeom>
        </p:spPr>
      </p:pic>
      <p:sp>
        <p:nvSpPr>
          <p:cNvPr id="21" name="Text 15"/>
          <p:cNvSpPr/>
          <p:nvPr/>
        </p:nvSpPr>
        <p:spPr>
          <a:xfrm>
            <a:off x="7132320" y="4096512"/>
            <a:ext cx="4160520" cy="365760"/>
          </a:xfrm>
          <a:prstGeom prst="rect">
            <a:avLst/>
          </a:prstGeom>
          <a:noFill/>
          <a:ln/>
        </p:spPr>
        <p:txBody>
          <a:bodyPr wrap="square" rtlCol="0" anchor="ctr"/>
          <a:lstStyle/>
          <a:p>
            <a:pPr marL="0" indent="0">
              <a:buNone/>
            </a:pPr>
            <a:r>
              <a:rPr lang="en-US" sz="1450" b="1" dirty="0">
                <a:solidFill>
                  <a:srgbClr val="F0EFF5"/>
                </a:solidFill>
                <a:latin typeface="Calibri" pitchFamily="34" charset="0"/>
                <a:ea typeface="Calibri" pitchFamily="34" charset="-122"/>
                <a:cs typeface="Calibri" pitchFamily="34" charset="-120"/>
              </a:rPr>
              <a:t>Upload Validation</a:t>
            </a:r>
            <a:endParaRPr lang="en-US" sz="1450" dirty="0"/>
          </a:p>
        </p:txBody>
      </p:sp>
      <p:sp>
        <p:nvSpPr>
          <p:cNvPr id="22" name="Text 16"/>
          <p:cNvSpPr/>
          <p:nvPr/>
        </p:nvSpPr>
        <p:spPr>
          <a:xfrm>
            <a:off x="6446520" y="4754880"/>
            <a:ext cx="4800600" cy="822960"/>
          </a:xfrm>
          <a:prstGeom prst="rect">
            <a:avLst/>
          </a:prstGeom>
          <a:noFill/>
          <a:ln/>
        </p:spPr>
        <p:txBody>
          <a:bodyPr wrap="square" rtlCol="0" anchor="ctr"/>
          <a:lstStyle/>
          <a:p>
            <a:pPr marL="0" indent="0">
              <a:lnSpc>
                <a:spcPct val="125000"/>
              </a:lnSpc>
              <a:buNone/>
            </a:pPr>
            <a:r>
              <a:rPr lang="en-US" sz="1150" dirty="0">
                <a:solidFill>
                  <a:srgbClr val="9A9AB5"/>
                </a:solidFill>
                <a:latin typeface="Calibri" pitchFamily="34" charset="0"/>
                <a:ea typeface="Calibri" pitchFamily="34" charset="-122"/>
                <a:cs typeface="Calibri" pitchFamily="34" charset="-120"/>
              </a:rPr>
              <a:t>Image extension whitelist and a 5MB size cap enforced before any file is saved.</a:t>
            </a:r>
            <a:endParaRPr lang="en-US" sz="1150" dirty="0"/>
          </a:p>
        </p:txBody>
      </p:sp>
      <p:sp>
        <p:nvSpPr>
          <p:cNvPr id="23" name="Text 17"/>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24" name="Text 1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F0EFF5"/>
                </a:solidFill>
                <a:latin typeface="Century Schoolbook" pitchFamily="34" charset="0"/>
                <a:ea typeface="Century Schoolbook" pitchFamily="34" charset="-122"/>
                <a:cs typeface="Century Schoolbook" pitchFamily="34" charset="-120"/>
              </a:rPr>
              <a:t>Future Enhancements</a:t>
            </a:r>
            <a:endParaRPr lang="en-US" sz="3200" dirty="0"/>
          </a:p>
        </p:txBody>
      </p:sp>
      <p:sp>
        <p:nvSpPr>
          <p:cNvPr id="3" name="Text 1"/>
          <p:cNvSpPr/>
          <p:nvPr/>
        </p:nvSpPr>
        <p:spPr>
          <a:xfrm>
            <a:off x="548640" y="987552"/>
            <a:ext cx="10515600" cy="411480"/>
          </a:xfrm>
          <a:prstGeom prst="rect">
            <a:avLst/>
          </a:prstGeom>
          <a:noFill/>
          <a:ln/>
        </p:spPr>
        <p:txBody>
          <a:bodyPr wrap="square" rtlCol="0" anchor="ctr"/>
          <a:lstStyle/>
          <a:p>
            <a:pPr marL="0" indent="0">
              <a:buNone/>
            </a:pPr>
            <a:r>
              <a:rPr lang="en-US" sz="1400" dirty="0">
                <a:solidFill>
                  <a:srgbClr val="9A9AB5"/>
                </a:solidFill>
                <a:latin typeface="Calibri" pitchFamily="34" charset="0"/>
                <a:ea typeface="Calibri" pitchFamily="34" charset="-122"/>
                <a:cs typeface="Calibri" pitchFamily="34" charset="-120"/>
              </a:rPr>
              <a:t>Named directly as future work in the project report</a:t>
            </a:r>
            <a:endParaRPr lang="en-US" sz="1400" dirty="0"/>
          </a:p>
        </p:txBody>
      </p:sp>
      <p:sp>
        <p:nvSpPr>
          <p:cNvPr id="4" name="Shape 2"/>
          <p:cNvSpPr/>
          <p:nvPr/>
        </p:nvSpPr>
        <p:spPr>
          <a:xfrm>
            <a:off x="548640" y="1737360"/>
            <a:ext cx="2651760" cy="3566160"/>
          </a:xfrm>
          <a:prstGeom prst="roundRect">
            <a:avLst>
              <a:gd name="adj" fmla="val 3448"/>
            </a:avLst>
          </a:prstGeom>
          <a:solidFill>
            <a:srgbClr val="13131A"/>
          </a:solidFill>
          <a:ln w="12700">
            <a:solidFill>
              <a:srgbClr val="2A2A38"/>
            </a:solidFill>
            <a:prstDash val="solid"/>
          </a:ln>
        </p:spPr>
      </p:sp>
      <p:sp>
        <p:nvSpPr>
          <p:cNvPr id="5" name="Shape 3"/>
          <p:cNvSpPr/>
          <p:nvPr/>
        </p:nvSpPr>
        <p:spPr>
          <a:xfrm>
            <a:off x="1508760" y="2057400"/>
            <a:ext cx="731520" cy="731520"/>
          </a:xfrm>
          <a:prstGeom prst="ellipse">
            <a:avLst/>
          </a:prstGeom>
          <a:solidFill>
            <a:srgbClr val="1C1C28"/>
          </a:solidFill>
          <a:ln w="15875">
            <a:solidFill>
              <a:srgbClr val="F0C04A"/>
            </a:solidFill>
            <a:prstDash val="solid"/>
          </a:ln>
        </p:spPr>
      </p:sp>
      <p:pic>
        <p:nvPicPr>
          <p:cNvPr id="6" name="Image 0" descr="/home/claude/pptx/icons/bell.png"/>
          <p:cNvPicPr>
            <a:picLocks noChangeAspect="1"/>
          </p:cNvPicPr>
          <p:nvPr/>
        </p:nvPicPr>
        <p:blipFill>
          <a:blip r:embed="rId3"/>
          <a:stretch>
            <a:fillRect/>
          </a:stretch>
        </p:blipFill>
        <p:spPr>
          <a:xfrm>
            <a:off x="1673352" y="2221992"/>
            <a:ext cx="402336" cy="402336"/>
          </a:xfrm>
          <a:prstGeom prst="rect">
            <a:avLst/>
          </a:prstGeom>
        </p:spPr>
      </p:pic>
      <p:sp>
        <p:nvSpPr>
          <p:cNvPr id="7" name="Text 4"/>
          <p:cNvSpPr/>
          <p:nvPr/>
        </p:nvSpPr>
        <p:spPr>
          <a:xfrm>
            <a:off x="731520" y="1920240"/>
            <a:ext cx="731520" cy="365760"/>
          </a:xfrm>
          <a:prstGeom prst="rect">
            <a:avLst/>
          </a:prstGeom>
          <a:noFill/>
          <a:ln/>
        </p:spPr>
        <p:txBody>
          <a:bodyPr wrap="square" rtlCol="0" anchor="ctr"/>
          <a:lstStyle/>
          <a:p>
            <a:pPr marL="0" indent="0">
              <a:buNone/>
            </a:pPr>
            <a:r>
              <a:rPr lang="en-US" sz="1300" b="1" dirty="0">
                <a:solidFill>
                  <a:srgbClr val="2A2A38"/>
                </a:solidFill>
                <a:latin typeface="Century Schoolbook" pitchFamily="34" charset="0"/>
                <a:ea typeface="Century Schoolbook" pitchFamily="34" charset="-122"/>
                <a:cs typeface="Century Schoolbook" pitchFamily="34" charset="-120"/>
              </a:rPr>
              <a:t>01</a:t>
            </a:r>
            <a:endParaRPr lang="en-US" sz="1300" dirty="0"/>
          </a:p>
        </p:txBody>
      </p:sp>
      <p:sp>
        <p:nvSpPr>
          <p:cNvPr id="8" name="Text 5"/>
          <p:cNvSpPr/>
          <p:nvPr/>
        </p:nvSpPr>
        <p:spPr>
          <a:xfrm>
            <a:off x="777240" y="3108960"/>
            <a:ext cx="2194560" cy="594360"/>
          </a:xfrm>
          <a:prstGeom prst="rect">
            <a:avLst/>
          </a:prstGeom>
          <a:noFill/>
          <a:ln/>
        </p:spPr>
        <p:txBody>
          <a:bodyPr wrap="square" rtlCol="0" anchor="ctr"/>
          <a:lstStyle/>
          <a:p>
            <a:pPr marL="0" indent="0" algn="ctr">
              <a:buNone/>
            </a:pPr>
            <a:r>
              <a:rPr lang="en-US" sz="1400" b="1" dirty="0">
                <a:solidFill>
                  <a:srgbClr val="F0EFF5"/>
                </a:solidFill>
                <a:latin typeface="Calibri" pitchFamily="34" charset="0"/>
                <a:ea typeface="Calibri" pitchFamily="34" charset="-122"/>
                <a:cs typeface="Calibri" pitchFamily="34" charset="-120"/>
              </a:rPr>
              <a:t>Mobile Push Notifications</a:t>
            </a:r>
            <a:endParaRPr lang="en-US" sz="1400" dirty="0"/>
          </a:p>
        </p:txBody>
      </p:sp>
      <p:sp>
        <p:nvSpPr>
          <p:cNvPr id="9" name="Text 6"/>
          <p:cNvSpPr/>
          <p:nvPr/>
        </p:nvSpPr>
        <p:spPr>
          <a:xfrm>
            <a:off x="804672" y="3703320"/>
            <a:ext cx="2139696" cy="1463040"/>
          </a:xfrm>
          <a:prstGeom prst="rect">
            <a:avLst/>
          </a:prstGeom>
          <a:noFill/>
          <a:ln/>
        </p:spPr>
        <p:txBody>
          <a:bodyPr wrap="square" rtlCol="0" anchor="ctr"/>
          <a:lstStyle/>
          <a:p>
            <a:pPr marL="0" indent="0" algn="ctr">
              <a:lnSpc>
                <a:spcPct val="125000"/>
              </a:lnSpc>
              <a:buNone/>
            </a:pPr>
            <a:r>
              <a:rPr lang="en-US" sz="1100" dirty="0">
                <a:solidFill>
                  <a:srgbClr val="9A9AB5"/>
                </a:solidFill>
                <a:latin typeface="Calibri" pitchFamily="34" charset="0"/>
                <a:ea typeface="Calibri" pitchFamily="34" charset="-122"/>
                <a:cs typeface="Calibri" pitchFamily="34" charset="-120"/>
              </a:rPr>
              <a:t>Alert users the moment a potential match or new message arrives, per the report's future work.</a:t>
            </a:r>
            <a:endParaRPr lang="en-US" sz="1100" dirty="0"/>
          </a:p>
        </p:txBody>
      </p:sp>
      <p:sp>
        <p:nvSpPr>
          <p:cNvPr id="10" name="Shape 7"/>
          <p:cNvSpPr/>
          <p:nvPr/>
        </p:nvSpPr>
        <p:spPr>
          <a:xfrm>
            <a:off x="3429000" y="1737360"/>
            <a:ext cx="2651760" cy="3566160"/>
          </a:xfrm>
          <a:prstGeom prst="roundRect">
            <a:avLst>
              <a:gd name="adj" fmla="val 3448"/>
            </a:avLst>
          </a:prstGeom>
          <a:solidFill>
            <a:srgbClr val="13131A"/>
          </a:solidFill>
          <a:ln w="12700">
            <a:solidFill>
              <a:srgbClr val="2A2A38"/>
            </a:solidFill>
            <a:prstDash val="solid"/>
          </a:ln>
        </p:spPr>
      </p:sp>
      <p:sp>
        <p:nvSpPr>
          <p:cNvPr id="11" name="Shape 8"/>
          <p:cNvSpPr/>
          <p:nvPr/>
        </p:nvSpPr>
        <p:spPr>
          <a:xfrm>
            <a:off x="4389120" y="2057400"/>
            <a:ext cx="731520" cy="731520"/>
          </a:xfrm>
          <a:prstGeom prst="ellipse">
            <a:avLst/>
          </a:prstGeom>
          <a:solidFill>
            <a:srgbClr val="1C1C28"/>
          </a:solidFill>
          <a:ln w="15875">
            <a:solidFill>
              <a:srgbClr val="F0C04A"/>
            </a:solidFill>
            <a:prstDash val="solid"/>
          </a:ln>
        </p:spPr>
      </p:sp>
      <p:pic>
        <p:nvPicPr>
          <p:cNvPr id="12" name="Image 1" descr="/home/claude/pptx/icons/robot.png"/>
          <p:cNvPicPr>
            <a:picLocks noChangeAspect="1"/>
          </p:cNvPicPr>
          <p:nvPr/>
        </p:nvPicPr>
        <p:blipFill>
          <a:blip r:embed="rId4"/>
          <a:stretch>
            <a:fillRect/>
          </a:stretch>
        </p:blipFill>
        <p:spPr>
          <a:xfrm>
            <a:off x="4553712" y="2221992"/>
            <a:ext cx="402336" cy="402336"/>
          </a:xfrm>
          <a:prstGeom prst="rect">
            <a:avLst/>
          </a:prstGeom>
        </p:spPr>
      </p:pic>
      <p:sp>
        <p:nvSpPr>
          <p:cNvPr id="13" name="Text 9"/>
          <p:cNvSpPr/>
          <p:nvPr/>
        </p:nvSpPr>
        <p:spPr>
          <a:xfrm>
            <a:off x="3611880" y="1920240"/>
            <a:ext cx="731520" cy="365760"/>
          </a:xfrm>
          <a:prstGeom prst="rect">
            <a:avLst/>
          </a:prstGeom>
          <a:noFill/>
          <a:ln/>
        </p:spPr>
        <p:txBody>
          <a:bodyPr wrap="square" rtlCol="0" anchor="ctr"/>
          <a:lstStyle/>
          <a:p>
            <a:pPr marL="0" indent="0">
              <a:buNone/>
            </a:pPr>
            <a:r>
              <a:rPr lang="en-US" sz="1300" b="1" dirty="0">
                <a:solidFill>
                  <a:srgbClr val="2A2A38"/>
                </a:solidFill>
                <a:latin typeface="Century Schoolbook" pitchFamily="34" charset="0"/>
                <a:ea typeface="Century Schoolbook" pitchFamily="34" charset="-122"/>
                <a:cs typeface="Century Schoolbook" pitchFamily="34" charset="-120"/>
              </a:rPr>
              <a:t>02</a:t>
            </a:r>
            <a:endParaRPr lang="en-US" sz="1300" dirty="0"/>
          </a:p>
        </p:txBody>
      </p:sp>
      <p:sp>
        <p:nvSpPr>
          <p:cNvPr id="14" name="Text 10"/>
          <p:cNvSpPr/>
          <p:nvPr/>
        </p:nvSpPr>
        <p:spPr>
          <a:xfrm>
            <a:off x="3657600" y="3108960"/>
            <a:ext cx="2194560" cy="594360"/>
          </a:xfrm>
          <a:prstGeom prst="rect">
            <a:avLst/>
          </a:prstGeom>
          <a:noFill/>
          <a:ln/>
        </p:spPr>
        <p:txBody>
          <a:bodyPr wrap="square" rtlCol="0" anchor="ctr"/>
          <a:lstStyle/>
          <a:p>
            <a:pPr marL="0" indent="0" algn="ctr">
              <a:buNone/>
            </a:pPr>
            <a:r>
              <a:rPr lang="en-US" sz="1400" b="1" dirty="0">
                <a:solidFill>
                  <a:srgbClr val="F0EFF5"/>
                </a:solidFill>
                <a:latin typeface="Calibri" pitchFamily="34" charset="0"/>
                <a:ea typeface="Calibri" pitchFamily="34" charset="-122"/>
                <a:cs typeface="Calibri" pitchFamily="34" charset="-120"/>
              </a:rPr>
              <a:t>Smart Auto-Matching</a:t>
            </a:r>
            <a:endParaRPr lang="en-US" sz="1400" dirty="0"/>
          </a:p>
        </p:txBody>
      </p:sp>
      <p:sp>
        <p:nvSpPr>
          <p:cNvPr id="15" name="Text 11"/>
          <p:cNvSpPr/>
          <p:nvPr/>
        </p:nvSpPr>
        <p:spPr>
          <a:xfrm>
            <a:off x="3685032" y="3703320"/>
            <a:ext cx="2139696" cy="1463040"/>
          </a:xfrm>
          <a:prstGeom prst="rect">
            <a:avLst/>
          </a:prstGeom>
          <a:noFill/>
          <a:ln/>
        </p:spPr>
        <p:txBody>
          <a:bodyPr wrap="square" rtlCol="0" anchor="ctr"/>
          <a:lstStyle/>
          <a:p>
            <a:pPr marL="0" indent="0" algn="ctr">
              <a:lnSpc>
                <a:spcPct val="125000"/>
              </a:lnSpc>
              <a:buNone/>
            </a:pPr>
            <a:r>
              <a:rPr lang="en-US" sz="1100" dirty="0">
                <a:solidFill>
                  <a:srgbClr val="9A9AB5"/>
                </a:solidFill>
                <a:latin typeface="Calibri" pitchFamily="34" charset="0"/>
                <a:ea typeface="Calibri" pitchFamily="34" charset="-122"/>
                <a:cs typeface="Calibri" pitchFamily="34" charset="-120"/>
              </a:rPr>
              <a:t>Score lost vs. found reports by category, location &amp; date to suggest likely matches.</a:t>
            </a:r>
            <a:endParaRPr lang="en-US" sz="1100" dirty="0"/>
          </a:p>
        </p:txBody>
      </p:sp>
      <p:sp>
        <p:nvSpPr>
          <p:cNvPr id="16" name="Shape 12"/>
          <p:cNvSpPr/>
          <p:nvPr/>
        </p:nvSpPr>
        <p:spPr>
          <a:xfrm>
            <a:off x="6309360" y="1737360"/>
            <a:ext cx="2651760" cy="3566160"/>
          </a:xfrm>
          <a:prstGeom prst="roundRect">
            <a:avLst>
              <a:gd name="adj" fmla="val 3448"/>
            </a:avLst>
          </a:prstGeom>
          <a:solidFill>
            <a:srgbClr val="13131A"/>
          </a:solidFill>
          <a:ln w="12700">
            <a:solidFill>
              <a:srgbClr val="2A2A38"/>
            </a:solidFill>
            <a:prstDash val="solid"/>
          </a:ln>
        </p:spPr>
      </p:sp>
      <p:sp>
        <p:nvSpPr>
          <p:cNvPr id="17" name="Shape 13"/>
          <p:cNvSpPr/>
          <p:nvPr/>
        </p:nvSpPr>
        <p:spPr>
          <a:xfrm>
            <a:off x="7269480" y="2057400"/>
            <a:ext cx="731520" cy="731520"/>
          </a:xfrm>
          <a:prstGeom prst="ellipse">
            <a:avLst/>
          </a:prstGeom>
          <a:solidFill>
            <a:srgbClr val="1C1C28"/>
          </a:solidFill>
          <a:ln w="15875">
            <a:solidFill>
              <a:srgbClr val="F0C04A"/>
            </a:solidFill>
            <a:prstDash val="solid"/>
          </a:ln>
        </p:spPr>
      </p:sp>
      <p:pic>
        <p:nvPicPr>
          <p:cNvPr id="18" name="Image 2" descr="/home/claude/pptx/icons/filter.png"/>
          <p:cNvPicPr>
            <a:picLocks noChangeAspect="1"/>
          </p:cNvPicPr>
          <p:nvPr/>
        </p:nvPicPr>
        <p:blipFill>
          <a:blip r:embed="rId5"/>
          <a:stretch>
            <a:fillRect/>
          </a:stretch>
        </p:blipFill>
        <p:spPr>
          <a:xfrm>
            <a:off x="7434072" y="2221992"/>
            <a:ext cx="402336" cy="402336"/>
          </a:xfrm>
          <a:prstGeom prst="rect">
            <a:avLst/>
          </a:prstGeom>
        </p:spPr>
      </p:pic>
      <p:sp>
        <p:nvSpPr>
          <p:cNvPr id="19" name="Text 14"/>
          <p:cNvSpPr/>
          <p:nvPr/>
        </p:nvSpPr>
        <p:spPr>
          <a:xfrm>
            <a:off x="6492240" y="1920240"/>
            <a:ext cx="731520" cy="365760"/>
          </a:xfrm>
          <a:prstGeom prst="rect">
            <a:avLst/>
          </a:prstGeom>
          <a:noFill/>
          <a:ln/>
        </p:spPr>
        <p:txBody>
          <a:bodyPr wrap="square" rtlCol="0" anchor="ctr"/>
          <a:lstStyle/>
          <a:p>
            <a:pPr marL="0" indent="0">
              <a:buNone/>
            </a:pPr>
            <a:r>
              <a:rPr lang="en-US" sz="1300" b="1" dirty="0">
                <a:solidFill>
                  <a:srgbClr val="2A2A38"/>
                </a:solidFill>
                <a:latin typeface="Century Schoolbook" pitchFamily="34" charset="0"/>
                <a:ea typeface="Century Schoolbook" pitchFamily="34" charset="-122"/>
                <a:cs typeface="Century Schoolbook" pitchFamily="34" charset="-120"/>
              </a:rPr>
              <a:t>03</a:t>
            </a:r>
            <a:endParaRPr lang="en-US" sz="1300" dirty="0"/>
          </a:p>
        </p:txBody>
      </p:sp>
      <p:sp>
        <p:nvSpPr>
          <p:cNvPr id="20" name="Text 15"/>
          <p:cNvSpPr/>
          <p:nvPr/>
        </p:nvSpPr>
        <p:spPr>
          <a:xfrm>
            <a:off x="6537960" y="3108960"/>
            <a:ext cx="2194560" cy="594360"/>
          </a:xfrm>
          <a:prstGeom prst="rect">
            <a:avLst/>
          </a:prstGeom>
          <a:noFill/>
          <a:ln/>
        </p:spPr>
        <p:txBody>
          <a:bodyPr wrap="square" rtlCol="0" anchor="ctr"/>
          <a:lstStyle/>
          <a:p>
            <a:pPr marL="0" indent="0" algn="ctr">
              <a:buNone/>
            </a:pPr>
            <a:r>
              <a:rPr lang="en-US" sz="1400" b="1" dirty="0">
                <a:solidFill>
                  <a:srgbClr val="F0EFF5"/>
                </a:solidFill>
                <a:latin typeface="Calibri" pitchFamily="34" charset="0"/>
                <a:ea typeface="Calibri" pitchFamily="34" charset="-122"/>
                <a:cs typeface="Calibri" pitchFamily="34" charset="-120"/>
              </a:rPr>
              <a:t>Advanced Filtering</a:t>
            </a:r>
            <a:endParaRPr lang="en-US" sz="1400" dirty="0"/>
          </a:p>
        </p:txBody>
      </p:sp>
      <p:sp>
        <p:nvSpPr>
          <p:cNvPr id="21" name="Text 16"/>
          <p:cNvSpPr/>
          <p:nvPr/>
        </p:nvSpPr>
        <p:spPr>
          <a:xfrm>
            <a:off x="6565392" y="3703320"/>
            <a:ext cx="2139696" cy="1463040"/>
          </a:xfrm>
          <a:prstGeom prst="rect">
            <a:avLst/>
          </a:prstGeom>
          <a:noFill/>
          <a:ln/>
        </p:spPr>
        <p:txBody>
          <a:bodyPr wrap="square" rtlCol="0" anchor="ctr"/>
          <a:lstStyle/>
          <a:p>
            <a:pPr marL="0" indent="0" algn="ctr">
              <a:lnSpc>
                <a:spcPct val="125000"/>
              </a:lnSpc>
              <a:buNone/>
            </a:pPr>
            <a:r>
              <a:rPr lang="en-US" sz="1100" dirty="0">
                <a:solidFill>
                  <a:srgbClr val="9A9AB5"/>
                </a:solidFill>
                <a:latin typeface="Calibri" pitchFamily="34" charset="0"/>
                <a:ea typeface="Calibri" pitchFamily="34" charset="-122"/>
                <a:cs typeface="Calibri" pitchFamily="34" charset="-120"/>
              </a:rPr>
              <a:t>Deeper filter combinations (date range, multi-category) beyond the current search &amp; filter module.</a:t>
            </a:r>
            <a:endParaRPr lang="en-US" sz="1100" dirty="0"/>
          </a:p>
        </p:txBody>
      </p:sp>
      <p:sp>
        <p:nvSpPr>
          <p:cNvPr id="25" name="Text 19"/>
          <p:cNvSpPr/>
          <p:nvPr/>
        </p:nvSpPr>
        <p:spPr>
          <a:xfrm>
            <a:off x="9372600" y="1920240"/>
            <a:ext cx="731520" cy="365760"/>
          </a:xfrm>
          <a:prstGeom prst="rect">
            <a:avLst/>
          </a:prstGeom>
          <a:noFill/>
          <a:ln/>
        </p:spPr>
        <p:txBody>
          <a:bodyPr wrap="square" rtlCol="0" anchor="ctr"/>
          <a:lstStyle/>
          <a:p>
            <a:pPr marL="0" indent="0">
              <a:buNone/>
            </a:pPr>
            <a:endParaRPr lang="en-US" sz="1300" dirty="0"/>
          </a:p>
        </p:txBody>
      </p:sp>
      <p:sp>
        <p:nvSpPr>
          <p:cNvPr id="26" name="Text 20"/>
          <p:cNvSpPr/>
          <p:nvPr/>
        </p:nvSpPr>
        <p:spPr>
          <a:xfrm>
            <a:off x="9418320" y="3108960"/>
            <a:ext cx="2194560" cy="594360"/>
          </a:xfrm>
          <a:prstGeom prst="rect">
            <a:avLst/>
          </a:prstGeom>
          <a:noFill/>
          <a:ln/>
        </p:spPr>
        <p:txBody>
          <a:bodyPr wrap="square" rtlCol="0" anchor="ctr"/>
          <a:lstStyle/>
          <a:p>
            <a:pPr marL="0" indent="0" algn="ctr">
              <a:buNone/>
            </a:pPr>
            <a:endParaRPr lang="en-US" sz="1400" dirty="0"/>
          </a:p>
        </p:txBody>
      </p:sp>
      <p:sp>
        <p:nvSpPr>
          <p:cNvPr id="27" name="Text 21"/>
          <p:cNvSpPr/>
          <p:nvPr/>
        </p:nvSpPr>
        <p:spPr>
          <a:xfrm>
            <a:off x="9445752" y="3703320"/>
            <a:ext cx="2139696" cy="1463040"/>
          </a:xfrm>
          <a:prstGeom prst="rect">
            <a:avLst/>
          </a:prstGeom>
          <a:noFill/>
          <a:ln/>
        </p:spPr>
        <p:txBody>
          <a:bodyPr wrap="square" rtlCol="0" anchor="ctr"/>
          <a:lstStyle/>
          <a:p>
            <a:pPr marL="0" indent="0" algn="ctr">
              <a:lnSpc>
                <a:spcPct val="125000"/>
              </a:lnSpc>
              <a:buNone/>
            </a:pPr>
            <a:endParaRPr lang="en-US" sz="1100" dirty="0"/>
          </a:p>
        </p:txBody>
      </p:sp>
      <p:sp>
        <p:nvSpPr>
          <p:cNvPr id="28" name="Text 2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9A9AB5"/>
                </a:solidFill>
                <a:latin typeface="Calibri" pitchFamily="34" charset="0"/>
                <a:ea typeface="Calibri" pitchFamily="34" charset="-122"/>
                <a:cs typeface="Calibri" pitchFamily="34" charset="-120"/>
              </a:rPr>
              <a:t>FindIt — Lost &amp; Found Management System</a:t>
            </a:r>
            <a:endParaRPr lang="en-US" sz="900" dirty="0"/>
          </a:p>
        </p:txBody>
      </p:sp>
      <p:sp>
        <p:nvSpPr>
          <p:cNvPr id="29" name="Text 2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9AB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943600" cy="5943600"/>
          </a:xfrm>
          <a:prstGeom prst="ellipse">
            <a:avLst/>
          </a:prstGeom>
          <a:solidFill>
            <a:srgbClr val="F0C04A">
              <a:alpha val="9000"/>
            </a:srgbClr>
          </a:solidFill>
          <a:ln/>
        </p:spPr>
      </p:sp>
      <p:sp>
        <p:nvSpPr>
          <p:cNvPr id="3" name="Shape 1"/>
          <p:cNvSpPr/>
          <p:nvPr/>
        </p:nvSpPr>
        <p:spPr>
          <a:xfrm>
            <a:off x="8412480" y="3474720"/>
            <a:ext cx="5486400" cy="5486400"/>
          </a:xfrm>
          <a:prstGeom prst="ellipse">
            <a:avLst/>
          </a:prstGeom>
          <a:solidFill>
            <a:srgbClr val="E07B4A">
              <a:alpha val="8000"/>
            </a:srgbClr>
          </a:solidFill>
          <a:ln/>
        </p:spPr>
      </p:sp>
      <p:sp>
        <p:nvSpPr>
          <p:cNvPr id="4" name="Text 2"/>
          <p:cNvSpPr/>
          <p:nvPr/>
        </p:nvSpPr>
        <p:spPr>
          <a:xfrm>
            <a:off x="822960" y="2468880"/>
            <a:ext cx="7315200" cy="914400"/>
          </a:xfrm>
          <a:prstGeom prst="rect">
            <a:avLst/>
          </a:prstGeom>
          <a:noFill/>
          <a:ln/>
        </p:spPr>
        <p:txBody>
          <a:bodyPr wrap="square" rtlCol="0" anchor="ctr"/>
          <a:lstStyle/>
          <a:p>
            <a:pPr marL="0" indent="0" algn="l">
              <a:buNone/>
            </a:pPr>
            <a:r>
              <a:rPr lang="en-US" sz="4800" b="1" dirty="0">
                <a:solidFill>
                  <a:srgbClr val="F0C04A"/>
                </a:solidFill>
                <a:latin typeface="Century Schoolbook" pitchFamily="34" charset="0"/>
                <a:ea typeface="Century Schoolbook" pitchFamily="34" charset="-122"/>
                <a:cs typeface="Century Schoolbook" pitchFamily="34" charset="-120"/>
              </a:rPr>
              <a:t>Find</a:t>
            </a:r>
            <a:r>
              <a:rPr lang="en-US" sz="4800" b="1" dirty="0">
                <a:solidFill>
                  <a:srgbClr val="F0EFF5"/>
                </a:solidFill>
                <a:latin typeface="Century Schoolbook" pitchFamily="34" charset="0"/>
                <a:ea typeface="Century Schoolbook" pitchFamily="34" charset="-122"/>
                <a:cs typeface="Century Schoolbook" pitchFamily="34" charset="-120"/>
              </a:rPr>
              <a:t>It</a:t>
            </a:r>
            <a:endParaRPr lang="en-US" sz="4800" dirty="0"/>
          </a:p>
        </p:txBody>
      </p:sp>
      <p:sp>
        <p:nvSpPr>
          <p:cNvPr id="5" name="Text 3"/>
          <p:cNvSpPr/>
          <p:nvPr/>
        </p:nvSpPr>
        <p:spPr>
          <a:xfrm>
            <a:off x="868680" y="3291840"/>
            <a:ext cx="7315200" cy="731520"/>
          </a:xfrm>
          <a:prstGeom prst="rect">
            <a:avLst/>
          </a:prstGeom>
          <a:noFill/>
          <a:ln/>
        </p:spPr>
        <p:txBody>
          <a:bodyPr wrap="square" rtlCol="0" anchor="ctr"/>
          <a:lstStyle/>
          <a:p>
            <a:pPr marL="0" indent="0">
              <a:buNone/>
            </a:pPr>
            <a:r>
              <a:rPr lang="en-US" sz="2600" dirty="0">
                <a:solidFill>
                  <a:srgbClr val="F0EFF5"/>
                </a:solidFill>
                <a:latin typeface="Calibri" pitchFamily="34" charset="0"/>
                <a:ea typeface="Calibri" pitchFamily="34" charset="-122"/>
                <a:cs typeface="Calibri" pitchFamily="34" charset="-120"/>
              </a:rPr>
              <a:t>Thank You</a:t>
            </a:r>
            <a:endParaRPr lang="en-US" sz="2600" dirty="0"/>
          </a:p>
        </p:txBody>
      </p:sp>
      <p:sp>
        <p:nvSpPr>
          <p:cNvPr id="6" name="Text 4"/>
          <p:cNvSpPr/>
          <p:nvPr/>
        </p:nvSpPr>
        <p:spPr>
          <a:xfrm>
            <a:off x="868680" y="3977640"/>
            <a:ext cx="7315200" cy="457200"/>
          </a:xfrm>
          <a:prstGeom prst="rect">
            <a:avLst/>
          </a:prstGeom>
          <a:noFill/>
          <a:ln/>
        </p:spPr>
        <p:txBody>
          <a:bodyPr wrap="square" rtlCol="0" anchor="ctr"/>
          <a:lstStyle/>
          <a:p>
            <a:pPr marL="0" indent="0">
              <a:buNone/>
            </a:pPr>
            <a:r>
              <a:rPr lang="en-US" sz="1400" i="1" dirty="0">
                <a:solidFill>
                  <a:srgbClr val="9A9AB5"/>
                </a:solidFill>
                <a:latin typeface="Calibri" pitchFamily="34" charset="0"/>
                <a:ea typeface="Calibri" pitchFamily="34" charset="-122"/>
                <a:cs typeface="Calibri" pitchFamily="34" charset="-120"/>
              </a:rPr>
              <a:t>Questions &amp; Discussion</a:t>
            </a:r>
            <a:endParaRPr lang="en-US" sz="1400" dirty="0"/>
          </a:p>
        </p:txBody>
      </p:sp>
      <p:sp>
        <p:nvSpPr>
          <p:cNvPr id="7" name="Text 5"/>
          <p:cNvSpPr/>
          <p:nvPr/>
        </p:nvSpPr>
        <p:spPr>
          <a:xfrm>
            <a:off x="868680" y="4434840"/>
            <a:ext cx="7315200" cy="320040"/>
          </a:xfrm>
          <a:prstGeom prst="rect">
            <a:avLst/>
          </a:prstGeom>
          <a:noFill/>
          <a:ln/>
        </p:spPr>
        <p:txBody>
          <a:bodyPr wrap="square" rtlCol="0" anchor="ctr"/>
          <a:lstStyle/>
          <a:p>
            <a:pPr marL="0" indent="0">
              <a:buNone/>
            </a:pPr>
            <a:r>
              <a:rPr lang="en-US" sz="1250" b="1" dirty="0">
                <a:solidFill>
                  <a:srgbClr val="F0EFF5"/>
                </a:solidFill>
                <a:latin typeface="Calibri" pitchFamily="34" charset="0"/>
                <a:ea typeface="Calibri" pitchFamily="34" charset="-122"/>
                <a:cs typeface="Calibri" pitchFamily="34" charset="-120"/>
              </a:rPr>
              <a:t>Syed Muhammad Yousuf Ali Zaidi  (BCB-25F-043)</a:t>
            </a:r>
            <a:endParaRPr lang="en-US" sz="1250" dirty="0"/>
          </a:p>
        </p:txBody>
      </p:sp>
      <p:sp>
        <p:nvSpPr>
          <p:cNvPr id="8" name="Text 6"/>
          <p:cNvSpPr/>
          <p:nvPr/>
        </p:nvSpPr>
        <p:spPr>
          <a:xfrm>
            <a:off x="730657" y="5433180"/>
            <a:ext cx="8229600" cy="320040"/>
          </a:xfrm>
          <a:prstGeom prst="rect">
            <a:avLst/>
          </a:prstGeom>
          <a:noFill/>
          <a:ln/>
        </p:spPr>
        <p:txBody>
          <a:bodyPr wrap="square" rtlCol="0" anchor="ctr"/>
          <a:lstStyle/>
          <a:p>
            <a:pPr marL="0" indent="0">
              <a:buNone/>
            </a:pPr>
            <a:r>
              <a:rPr lang="en-US" sz="1100" dirty="0">
                <a:solidFill>
                  <a:srgbClr val="9A9AB5"/>
                </a:solidFill>
                <a:latin typeface="Calibri" pitchFamily="34" charset="0"/>
                <a:ea typeface="Calibri" pitchFamily="34" charset="-122"/>
                <a:cs typeface="Calibri" pitchFamily="34" charset="-120"/>
              </a:rPr>
              <a:t>Sindh Madressatul Islam University (SMIU)  ·  BS Cyber Security   ·  2nd Semester</a:t>
            </a:r>
            <a:endParaRPr lang="en-US" sz="1100" dirty="0"/>
          </a:p>
        </p:txBody>
      </p:sp>
      <p:sp>
        <p:nvSpPr>
          <p:cNvPr id="10" name="TextBox 9">
            <a:extLst>
              <a:ext uri="{FF2B5EF4-FFF2-40B4-BE49-F238E27FC236}">
                <a16:creationId xmlns:a16="http://schemas.microsoft.com/office/drawing/2014/main" id="{C5C1F8A4-33CA-E53B-6340-4DFEF074D5E1}"/>
              </a:ext>
            </a:extLst>
          </p:cNvPr>
          <p:cNvSpPr txBox="1"/>
          <p:nvPr/>
        </p:nvSpPr>
        <p:spPr>
          <a:xfrm>
            <a:off x="868680" y="4750567"/>
            <a:ext cx="7953554" cy="307777"/>
          </a:xfrm>
          <a:prstGeom prst="rect">
            <a:avLst/>
          </a:prstGeom>
          <a:noFill/>
        </p:spPr>
        <p:txBody>
          <a:bodyPr wrap="square">
            <a:spAutoFit/>
          </a:bodyPr>
          <a:lstStyle/>
          <a:p>
            <a:pPr marL="0" indent="0">
              <a:buNone/>
            </a:pPr>
            <a:r>
              <a:rPr lang="en-US" sz="1400" b="1" dirty="0">
                <a:solidFill>
                  <a:srgbClr val="F0EFF5"/>
                </a:solidFill>
                <a:latin typeface="Calibri" pitchFamily="34" charset="0"/>
                <a:ea typeface="Calibri" pitchFamily="34" charset="-122"/>
                <a:cs typeface="Calibri" pitchFamily="34" charset="-120"/>
              </a:rPr>
              <a:t>Aiman Imam  (BCB-25F-006)</a:t>
            </a:r>
            <a:endParaRPr lang="en-US" sz="1400" dirty="0"/>
          </a:p>
        </p:txBody>
      </p:sp>
      <p:sp>
        <p:nvSpPr>
          <p:cNvPr id="12" name="TextBox 11">
            <a:extLst>
              <a:ext uri="{FF2B5EF4-FFF2-40B4-BE49-F238E27FC236}">
                <a16:creationId xmlns:a16="http://schemas.microsoft.com/office/drawing/2014/main" id="{762B70F4-1A21-7E00-B5F9-4B0747E136FF}"/>
              </a:ext>
            </a:extLst>
          </p:cNvPr>
          <p:cNvSpPr txBox="1"/>
          <p:nvPr/>
        </p:nvSpPr>
        <p:spPr>
          <a:xfrm>
            <a:off x="868680" y="5120640"/>
            <a:ext cx="7953554" cy="276999"/>
          </a:xfrm>
          <a:prstGeom prst="rect">
            <a:avLst/>
          </a:prstGeom>
          <a:noFill/>
        </p:spPr>
        <p:txBody>
          <a:bodyPr wrap="square">
            <a:spAutoFit/>
          </a:bodyPr>
          <a:lstStyle/>
          <a:p>
            <a:r>
              <a:rPr lang="en-US" sz="1200" b="1" dirty="0">
                <a:solidFill>
                  <a:srgbClr val="F0EFF5"/>
                </a:solidFill>
                <a:latin typeface="Calibri" pitchFamily="34" charset="0"/>
                <a:ea typeface="Calibri" pitchFamily="34" charset="-122"/>
                <a:cs typeface="Calibri" pitchFamily="34" charset="-120"/>
              </a:rPr>
              <a:t>Najia Batool  (BCB-25F-033)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1367</Words>
  <Application>Microsoft Office PowerPoint</Application>
  <PresentationFormat>Widescreen</PresentationFormat>
  <Paragraphs>239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Century Schoolbook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BCB25F043</cp:lastModifiedBy>
  <cp:revision>4</cp:revision>
  <dcterms:created xsi:type="dcterms:W3CDTF">2026-08-10T19:17:00Z</dcterms:created>
  <dcterms:modified xsi:type="dcterms:W3CDTF">2026-08-10T20:39:59Z</dcterms:modified>
</cp:coreProperties>
</file>